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70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.Chandana sai" userId="23cdf8b8b86751dd" providerId="LiveId" clId="{7BAE34B6-8AC5-4EB1-9E76-F26434D7AD79}"/>
    <pc:docChg chg="custSel modSld">
      <pc:chgData name="k.Chandana sai" userId="23cdf8b8b86751dd" providerId="LiveId" clId="{7BAE34B6-8AC5-4EB1-9E76-F26434D7AD79}" dt="2026-03-08T13:50:08.471" v="234" actId="1037"/>
      <pc:docMkLst>
        <pc:docMk/>
      </pc:docMkLst>
      <pc:sldChg chg="modSp mod">
        <pc:chgData name="k.Chandana sai" userId="23cdf8b8b86751dd" providerId="LiveId" clId="{7BAE34B6-8AC5-4EB1-9E76-F26434D7AD79}" dt="2026-03-07T14:37:04.614" v="26" actId="20577"/>
        <pc:sldMkLst>
          <pc:docMk/>
          <pc:sldMk cId="0" sldId="256"/>
        </pc:sldMkLst>
        <pc:spChg chg="mod">
          <ac:chgData name="k.Chandana sai" userId="23cdf8b8b86751dd" providerId="LiveId" clId="{7BAE34B6-8AC5-4EB1-9E76-F26434D7AD79}" dt="2026-03-07T14:37:04.614" v="26" actId="20577"/>
          <ac:spMkLst>
            <pc:docMk/>
            <pc:sldMk cId="0" sldId="256"/>
            <ac:spMk id="15" creationId="{00000000-0000-0000-0000-000000000000}"/>
          </ac:spMkLst>
        </pc:spChg>
      </pc:sldChg>
      <pc:sldChg chg="modSp mod">
        <pc:chgData name="k.Chandana sai" userId="23cdf8b8b86751dd" providerId="LiveId" clId="{7BAE34B6-8AC5-4EB1-9E76-F26434D7AD79}" dt="2026-03-07T14:38:33.762" v="227" actId="6549"/>
        <pc:sldMkLst>
          <pc:docMk/>
          <pc:sldMk cId="0" sldId="261"/>
        </pc:sldMkLst>
        <pc:spChg chg="mod">
          <ac:chgData name="k.Chandana sai" userId="23cdf8b8b86751dd" providerId="LiveId" clId="{7BAE34B6-8AC5-4EB1-9E76-F26434D7AD79}" dt="2026-03-07T14:38:33.762" v="227" actId="6549"/>
          <ac:spMkLst>
            <pc:docMk/>
            <pc:sldMk cId="0" sldId="261"/>
            <ac:spMk id="43" creationId="{00000000-0000-0000-0000-000000000000}"/>
          </ac:spMkLst>
        </pc:spChg>
      </pc:sldChg>
      <pc:sldChg chg="delSp modSp mod">
        <pc:chgData name="k.Chandana sai" userId="23cdf8b8b86751dd" providerId="LiveId" clId="{7BAE34B6-8AC5-4EB1-9E76-F26434D7AD79}" dt="2026-03-07T14:38:01.564" v="128" actId="478"/>
        <pc:sldMkLst>
          <pc:docMk/>
          <pc:sldMk cId="0" sldId="265"/>
        </pc:sldMkLst>
        <pc:spChg chg="del">
          <ac:chgData name="k.Chandana sai" userId="23cdf8b8b86751dd" providerId="LiveId" clId="{7BAE34B6-8AC5-4EB1-9E76-F26434D7AD79}" dt="2026-03-07T14:37:45.774" v="27" actId="478"/>
          <ac:spMkLst>
            <pc:docMk/>
            <pc:sldMk cId="0" sldId="265"/>
            <ac:spMk id="48" creationId="{00000000-0000-0000-0000-000000000000}"/>
          </ac:spMkLst>
        </pc:spChg>
        <pc:spChg chg="del mod">
          <ac:chgData name="k.Chandana sai" userId="23cdf8b8b86751dd" providerId="LiveId" clId="{7BAE34B6-8AC5-4EB1-9E76-F26434D7AD79}" dt="2026-03-07T14:38:01.564" v="128" actId="478"/>
          <ac:spMkLst>
            <pc:docMk/>
            <pc:sldMk cId="0" sldId="265"/>
            <ac:spMk id="49" creationId="{00000000-0000-0000-0000-000000000000}"/>
          </ac:spMkLst>
        </pc:spChg>
      </pc:sldChg>
      <pc:sldChg chg="modSp mod">
        <pc:chgData name="k.Chandana sai" userId="23cdf8b8b86751dd" providerId="LiveId" clId="{7BAE34B6-8AC5-4EB1-9E76-F26434D7AD79}" dt="2026-03-08T13:50:08.471" v="234" actId="1037"/>
        <pc:sldMkLst>
          <pc:docMk/>
          <pc:sldMk cId="1472313492" sldId="266"/>
        </pc:sldMkLst>
        <pc:cxnChg chg="mod">
          <ac:chgData name="k.Chandana sai" userId="23cdf8b8b86751dd" providerId="LiveId" clId="{7BAE34B6-8AC5-4EB1-9E76-F26434D7AD79}" dt="2026-03-08T13:50:08.471" v="234" actId="1037"/>
          <ac:cxnSpMkLst>
            <pc:docMk/>
            <pc:sldMk cId="1472313492" sldId="266"/>
            <ac:cxnSpMk id="21" creationId="{4FA9A692-1292-B6F0-61C1-210C6746F738}"/>
          </ac:cxnSpMkLst>
        </pc:cxn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942407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91840" cy="51435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3" name="Shape 1"/>
          <p:cNvSpPr/>
          <p:nvPr/>
        </p:nvSpPr>
        <p:spPr>
          <a:xfrm>
            <a:off x="3291840" y="0"/>
            <a:ext cx="54864" cy="51435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" y="36576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600" b="1" dirty="0">
                <a:solidFill>
                  <a:srgbClr val="FFFFFF">
                    <a:alpha val="25000"/>
                  </a:srgbClr>
                </a:solidFill>
              </a:rPr>
              <a:t>{ }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91440" y="146304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>
                    <a:alpha val="25000"/>
                  </a:srgbClr>
                </a:solidFill>
              </a:rPr>
              <a:t>&lt; /&gt;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91440" y="256032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>
                    <a:alpha val="25000"/>
                  </a:srgbClr>
                </a:solidFill>
              </a:rPr>
              <a:t>=&gt;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" y="365760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>
                    <a:alpha val="25000"/>
                  </a:srgbClr>
                </a:solidFill>
              </a:rPr>
              <a:t>[ ]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3547872" y="384048"/>
            <a:ext cx="2926080" cy="32918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547872" y="384048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150" dirty="0">
                <a:solidFill>
                  <a:srgbClr val="FFFFFF"/>
                </a:solidFill>
              </a:rPr>
              <a:t>COLLEGE TECHNICAL SEMINAR  2026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3547872" y="868680"/>
            <a:ext cx="5394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800" b="1" dirty="0">
                <a:solidFill>
                  <a:srgbClr val="2563E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Mobile</a:t>
            </a:r>
            <a:endParaRPr lang="en-US" sz="5800" dirty="0"/>
          </a:p>
        </p:txBody>
      </p:sp>
      <p:sp>
        <p:nvSpPr>
          <p:cNvPr id="11" name="Text 9"/>
          <p:cNvSpPr/>
          <p:nvPr/>
        </p:nvSpPr>
        <p:spPr>
          <a:xfrm>
            <a:off x="3547872" y="1792224"/>
            <a:ext cx="5394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800" b="1" dirty="0">
                <a:solidFill>
                  <a:srgbClr val="7C3A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Computing</a:t>
            </a:r>
            <a:endParaRPr lang="en-US" sz="5800" dirty="0"/>
          </a:p>
        </p:txBody>
      </p:sp>
      <p:sp>
        <p:nvSpPr>
          <p:cNvPr id="12" name="Text 10"/>
          <p:cNvSpPr/>
          <p:nvPr/>
        </p:nvSpPr>
        <p:spPr>
          <a:xfrm>
            <a:off x="3547872" y="2734056"/>
            <a:ext cx="5394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D97706"/>
                </a:solidFill>
              </a:rPr>
              <a:t>&amp; Advanced App Development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3547872" y="3383280"/>
            <a:ext cx="5394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4748B"/>
                </a:solidFill>
              </a:rPr>
              <a:t>From smartphones to edge computing — building apps of the future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0" y="4736592"/>
            <a:ext cx="9144000" cy="40690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15" name="Text 13"/>
          <p:cNvSpPr/>
          <p:nvPr/>
        </p:nvSpPr>
        <p:spPr>
          <a:xfrm>
            <a:off x="274320" y="4764024"/>
            <a:ext cx="8595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bg2"/>
                </a:solidFill>
              </a:rPr>
              <a:t> ·   Department of Computer Science   · 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7899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rgbClr val="4338CA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3" name="Shape 1"/>
          <p:cNvSpPr/>
          <p:nvPr/>
        </p:nvSpPr>
        <p:spPr>
          <a:xfrm>
            <a:off x="0" y="1078992"/>
            <a:ext cx="9144000" cy="54864"/>
          </a:xfrm>
          <a:prstGeom prst="rect">
            <a:avLst/>
          </a:prstGeom>
          <a:solidFill>
            <a:srgbClr val="E2E8F4"/>
          </a:solidFill>
          <a:ln w="12700">
            <a:solidFill>
              <a:srgbClr val="E2E8F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9144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Presentation Roadmap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274320" y="713232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/>
              <a:t>10 focused topics on mobile computing &amp; advanced app development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274320" y="1207008"/>
            <a:ext cx="4206240" cy="594360"/>
          </a:xfrm>
          <a:prstGeom prst="rect">
            <a:avLst/>
          </a:prstGeom>
          <a:solidFill>
            <a:srgbClr val="F4F6FB"/>
          </a:solidFill>
          <a:ln w="12700">
            <a:solidFill>
              <a:srgbClr val="E2E8F4"/>
            </a:solidFill>
            <a:prstDash val="solid"/>
          </a:ln>
          <a:effectLst>
            <a:outerShdw blurRad="101600" dist="38100" dir="8100000" algn="bl" rotWithShape="0">
              <a:srgbClr val="94A3B8">
                <a:alpha val="22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9" name="Text 7"/>
          <p:cNvSpPr/>
          <p:nvPr/>
        </p:nvSpPr>
        <p:spPr>
          <a:xfrm>
            <a:off x="274321" y="132588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334155"/>
                </a:solidFill>
              </a:rPr>
              <a:t>  1.   What is Mobile Computing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74320" y="1938528"/>
            <a:ext cx="4206240" cy="594360"/>
          </a:xfrm>
          <a:prstGeom prst="rect">
            <a:avLst/>
          </a:prstGeom>
          <a:solidFill>
            <a:srgbClr val="F4F6FB"/>
          </a:solidFill>
          <a:ln w="12700">
            <a:solidFill>
              <a:srgbClr val="E2E8F4"/>
            </a:solidFill>
            <a:prstDash val="solid"/>
          </a:ln>
          <a:effectLst>
            <a:outerShdw blurRad="101600" dist="38100" dir="8100000" algn="bl" rotWithShape="0">
              <a:srgbClr val="94A3B8">
                <a:alpha val="2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74320" y="1938528"/>
            <a:ext cx="502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20040" y="2057400"/>
            <a:ext cx="4069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334155"/>
                </a:solidFill>
              </a:rPr>
              <a:t>2.   Mobile OS &amp; Platforms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274320" y="2670048"/>
            <a:ext cx="4206240" cy="594360"/>
          </a:xfrm>
          <a:prstGeom prst="rect">
            <a:avLst/>
          </a:prstGeom>
          <a:solidFill>
            <a:srgbClr val="F4F6FB"/>
          </a:solidFill>
          <a:ln w="12700">
            <a:solidFill>
              <a:srgbClr val="E2E8F4"/>
            </a:solidFill>
            <a:prstDash val="solid"/>
          </a:ln>
          <a:effectLst>
            <a:outerShdw blurRad="101600" dist="38100" dir="8100000" algn="bl" rotWithShape="0">
              <a:srgbClr val="94A3B8">
                <a:alpha val="2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274320" y="2670048"/>
            <a:ext cx="502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274321" y="2788920"/>
            <a:ext cx="411479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334155"/>
                </a:solidFill>
              </a:rPr>
              <a:t> 3.  Advanced App Architecture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274320" y="3401568"/>
            <a:ext cx="4206240" cy="594360"/>
          </a:xfrm>
          <a:prstGeom prst="rect">
            <a:avLst/>
          </a:prstGeom>
          <a:solidFill>
            <a:srgbClr val="F4F6FB"/>
          </a:solidFill>
          <a:ln w="12700">
            <a:solidFill>
              <a:srgbClr val="E2E8F4"/>
            </a:solidFill>
            <a:prstDash val="solid"/>
          </a:ln>
          <a:effectLst>
            <a:outerShdw blurRad="101600" dist="38100" dir="8100000" algn="bl" rotWithShape="0">
              <a:srgbClr val="94A3B8">
                <a:alpha val="2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274320" y="3401568"/>
            <a:ext cx="502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04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274320" y="352044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334155"/>
                </a:solidFill>
              </a:rPr>
              <a:t> 4.  Cross-Platform Development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274320" y="4133088"/>
            <a:ext cx="4206240" cy="594360"/>
          </a:xfrm>
          <a:prstGeom prst="rect">
            <a:avLst/>
          </a:prstGeom>
          <a:solidFill>
            <a:srgbClr val="F4F6FB"/>
          </a:solidFill>
          <a:ln w="12700">
            <a:solidFill>
              <a:srgbClr val="E2E8F4"/>
            </a:solidFill>
            <a:prstDash val="solid"/>
          </a:ln>
          <a:effectLst>
            <a:outerShdw blurRad="101600" dist="38100" dir="8100000" algn="bl" rotWithShape="0">
              <a:srgbClr val="94A3B8">
                <a:alpha val="2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274320" y="4133088"/>
            <a:ext cx="502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05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274320" y="425196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334155"/>
                </a:solidFill>
              </a:rPr>
              <a:t> 5.  APIs, REST &amp; GraphQL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709160" y="1197864"/>
            <a:ext cx="4206240" cy="594360"/>
          </a:xfrm>
          <a:prstGeom prst="rect">
            <a:avLst/>
          </a:prstGeom>
          <a:solidFill>
            <a:srgbClr val="F4F6FB"/>
          </a:solidFill>
          <a:ln w="12700">
            <a:solidFill>
              <a:srgbClr val="E2E8F4"/>
            </a:solidFill>
            <a:prstDash val="solid"/>
          </a:ln>
          <a:effectLst>
            <a:outerShdw blurRad="101600" dist="38100" dir="8100000" algn="bl" rotWithShape="0">
              <a:srgbClr val="94A3B8">
                <a:alpha val="22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28" name="Text 26"/>
          <p:cNvSpPr/>
          <p:nvPr/>
        </p:nvSpPr>
        <p:spPr>
          <a:xfrm>
            <a:off x="4709160" y="1207008"/>
            <a:ext cx="502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06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4775982" y="1325880"/>
            <a:ext cx="404797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334155"/>
                </a:solidFill>
              </a:rPr>
              <a:t> 6.  AI &amp; ML in Mobile Apps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4709160" y="1938528"/>
            <a:ext cx="4206240" cy="594360"/>
          </a:xfrm>
          <a:prstGeom prst="rect">
            <a:avLst/>
          </a:prstGeom>
          <a:solidFill>
            <a:srgbClr val="F4F6FB"/>
          </a:solidFill>
          <a:ln w="12700">
            <a:solidFill>
              <a:srgbClr val="E2E8F4"/>
            </a:solidFill>
            <a:prstDash val="solid"/>
          </a:ln>
          <a:effectLst>
            <a:outerShdw blurRad="101600" dist="38100" dir="8100000" algn="bl" rotWithShape="0">
              <a:srgbClr val="94A3B8">
                <a:alpha val="22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4709160" y="1938528"/>
            <a:ext cx="502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07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4775982" y="2057400"/>
            <a:ext cx="40409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334155"/>
                </a:solidFill>
              </a:rPr>
              <a:t> 7.  IoT &amp; Edge Computing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4709160" y="2670048"/>
            <a:ext cx="4206240" cy="594360"/>
          </a:xfrm>
          <a:prstGeom prst="rect">
            <a:avLst/>
          </a:prstGeom>
          <a:solidFill>
            <a:srgbClr val="F4F6FB"/>
          </a:solidFill>
          <a:ln w="12700">
            <a:solidFill>
              <a:srgbClr val="E2E8F4"/>
            </a:solidFill>
            <a:prstDash val="solid"/>
          </a:ln>
          <a:effectLst>
            <a:outerShdw blurRad="101600" dist="38100" dir="8100000" algn="bl" rotWithShape="0">
              <a:srgbClr val="94A3B8">
                <a:alpha val="22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4709160" y="2670048"/>
            <a:ext cx="502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08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4775982" y="2788920"/>
            <a:ext cx="404797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334155"/>
                </a:solidFill>
              </a:rPr>
              <a:t> 8.  Security in Mobile Apps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4709160" y="3401568"/>
            <a:ext cx="4206240" cy="594360"/>
          </a:xfrm>
          <a:prstGeom prst="rect">
            <a:avLst/>
          </a:prstGeom>
          <a:solidFill>
            <a:srgbClr val="F4F6FB"/>
          </a:solidFill>
          <a:ln w="12700">
            <a:solidFill>
              <a:srgbClr val="E2E8F4"/>
            </a:solidFill>
            <a:prstDash val="solid"/>
          </a:ln>
          <a:effectLst>
            <a:outerShdw blurRad="101600" dist="38100" dir="8100000" algn="bl" rotWithShape="0">
              <a:srgbClr val="94A3B8">
                <a:alpha val="22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4709160" y="3401568"/>
            <a:ext cx="502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09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4775982" y="3520440"/>
            <a:ext cx="404797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334155"/>
                </a:solidFill>
              </a:rPr>
              <a:t> 9.  Real-World App Case Studies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4709160" y="4133088"/>
            <a:ext cx="4206240" cy="594360"/>
          </a:xfrm>
          <a:prstGeom prst="rect">
            <a:avLst/>
          </a:prstGeom>
          <a:solidFill>
            <a:srgbClr val="F4F6FB"/>
          </a:solidFill>
          <a:ln w="12700">
            <a:solidFill>
              <a:srgbClr val="E2E8F4"/>
            </a:solidFill>
            <a:prstDash val="solid"/>
          </a:ln>
          <a:effectLst>
            <a:outerShdw blurRad="101600" dist="38100" dir="8100000" algn="bl" rotWithShape="0">
              <a:srgbClr val="94A3B8">
                <a:alpha val="22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4709160" y="4133088"/>
            <a:ext cx="502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4839286" y="4251960"/>
            <a:ext cx="398467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334155"/>
                </a:solidFill>
              </a:rPr>
              <a:t> 10.  Future Trends &amp; Career Paths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82880" y="18288"/>
            <a:ext cx="8855612" cy="1097280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IN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3" name="Shape 1"/>
          <p:cNvSpPr/>
          <p:nvPr/>
        </p:nvSpPr>
        <p:spPr>
          <a:xfrm>
            <a:off x="0" y="1078992"/>
            <a:ext cx="9144000" cy="54864"/>
          </a:xfrm>
          <a:prstGeom prst="rect">
            <a:avLst/>
          </a:prstGeom>
          <a:solidFill>
            <a:srgbClr val="E2E8F4"/>
          </a:solidFill>
          <a:ln w="12700">
            <a:solidFill>
              <a:srgbClr val="E2E8F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9144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is Mobile Computing</a:t>
            </a:r>
            <a:endParaRPr lang="en-US" sz="29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274320" y="713232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Anywhere, anytime access to data and applications</a:t>
            </a:r>
            <a:endParaRPr lang="en-US" sz="105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6" name="Shape 4"/>
          <p:cNvSpPr/>
          <p:nvPr/>
        </p:nvSpPr>
        <p:spPr>
          <a:xfrm>
            <a:off x="379828" y="1188720"/>
            <a:ext cx="8229600" cy="658368"/>
          </a:xfrm>
          <a:prstGeom prst="rect">
            <a:avLst/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  <a:effectLst>
            <a:outerShdw blurRad="101600" dist="38100" dir="8100000" algn="bl" rotWithShape="0">
              <a:srgbClr val="94A3B8">
                <a:alpha val="2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57200" y="12344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"Mobile computing is a form of human-computer interaction where a computer is expected to be transported during normal usage and allow for the transmission of data."</a:t>
            </a:r>
            <a:endParaRPr lang="en-US" sz="12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9" name="Shape 7"/>
          <p:cNvSpPr/>
          <p:nvPr/>
        </p:nvSpPr>
        <p:spPr>
          <a:xfrm>
            <a:off x="274320" y="1975104"/>
            <a:ext cx="2788920" cy="2907792"/>
          </a:xfrm>
          <a:prstGeom prst="rect">
            <a:avLst/>
          </a:prstGeom>
          <a:solidFill>
            <a:srgbClr val="F4F6FB"/>
          </a:solidFill>
          <a:ln w="12700">
            <a:solidFill>
              <a:srgbClr val="E2E8F4"/>
            </a:solidFill>
            <a:prstDash val="solid"/>
          </a:ln>
          <a:effectLst>
            <a:outerShdw blurRad="101600" dist="38100" dir="8100000" algn="bl" rotWithShape="0">
              <a:srgbClr val="94A3B8">
                <a:alpha val="22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10" name="Shape 8"/>
          <p:cNvSpPr/>
          <p:nvPr/>
        </p:nvSpPr>
        <p:spPr>
          <a:xfrm>
            <a:off x="274320" y="1975104"/>
            <a:ext cx="2788920" cy="54864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7472" y="1993392"/>
            <a:ext cx="264261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kern="0" spc="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📱  HARDWARE</a:t>
            </a:r>
            <a:endParaRPr lang="en-US" sz="14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3" name="Text 11"/>
          <p:cNvSpPr/>
          <p:nvPr/>
        </p:nvSpPr>
        <p:spPr>
          <a:xfrm>
            <a:off x="603504" y="2596896"/>
            <a:ext cx="23408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en-US" sz="11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Smartphones — iPhone 15, Pixel 8</a:t>
            </a:r>
          </a:p>
        </p:txBody>
      </p:sp>
      <p:sp>
        <p:nvSpPr>
          <p:cNvPr id="15" name="Text 13"/>
          <p:cNvSpPr/>
          <p:nvPr/>
        </p:nvSpPr>
        <p:spPr>
          <a:xfrm>
            <a:off x="603504" y="3145536"/>
            <a:ext cx="23408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en-US" sz="11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Tablets — iPad Pro, Galaxy Tab S9</a:t>
            </a:r>
          </a:p>
        </p:txBody>
      </p:sp>
      <p:sp>
        <p:nvSpPr>
          <p:cNvPr id="17" name="Text 15"/>
          <p:cNvSpPr/>
          <p:nvPr/>
        </p:nvSpPr>
        <p:spPr>
          <a:xfrm>
            <a:off x="603504" y="3694176"/>
            <a:ext cx="23408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en-US" sz="11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Wearables — Apple Watch, Galaxy Watch</a:t>
            </a:r>
          </a:p>
        </p:txBody>
      </p:sp>
      <p:sp>
        <p:nvSpPr>
          <p:cNvPr id="19" name="Text 17"/>
          <p:cNvSpPr/>
          <p:nvPr/>
        </p:nvSpPr>
        <p:spPr>
          <a:xfrm>
            <a:off x="603504" y="4242816"/>
            <a:ext cx="23408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en-US" sz="11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Laptops, Chromebooks, Ultrabooks</a:t>
            </a:r>
          </a:p>
        </p:txBody>
      </p:sp>
      <p:sp>
        <p:nvSpPr>
          <p:cNvPr id="20" name="Shape 18"/>
          <p:cNvSpPr/>
          <p:nvPr/>
        </p:nvSpPr>
        <p:spPr>
          <a:xfrm>
            <a:off x="3200400" y="1975104"/>
            <a:ext cx="2788920" cy="2907792"/>
          </a:xfrm>
          <a:prstGeom prst="rect">
            <a:avLst/>
          </a:prstGeom>
          <a:solidFill>
            <a:srgbClr val="F4F6FB"/>
          </a:solidFill>
          <a:ln w="12700">
            <a:solidFill>
              <a:srgbClr val="E2E8F4"/>
            </a:solidFill>
            <a:prstDash val="solid"/>
          </a:ln>
          <a:effectLst>
            <a:outerShdw blurRad="101600" dist="38100" dir="8100000" algn="bl" rotWithShape="0">
              <a:srgbClr val="94A3B8">
                <a:alpha val="2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00400" y="1975104"/>
            <a:ext cx="2788920" cy="54864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73552" y="1993392"/>
            <a:ext cx="264261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kern="0" spc="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📡  CONNECTIVITY</a:t>
            </a:r>
            <a:endParaRPr lang="en-US" sz="14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24" name="Text 22"/>
          <p:cNvSpPr/>
          <p:nvPr/>
        </p:nvSpPr>
        <p:spPr>
          <a:xfrm>
            <a:off x="3529584" y="2596896"/>
            <a:ext cx="23408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1450" indent="-171450">
              <a:buFont typeface="Courier New" panose="02070309020205020404" pitchFamily="49" charset="0"/>
              <a:buChar char="o"/>
            </a:pPr>
            <a:r>
              <a:rPr lang="en-US" sz="11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5G NR — up to 20 Gbps speed</a:t>
            </a:r>
          </a:p>
        </p:txBody>
      </p:sp>
      <p:sp>
        <p:nvSpPr>
          <p:cNvPr id="26" name="Text 24"/>
          <p:cNvSpPr/>
          <p:nvPr/>
        </p:nvSpPr>
        <p:spPr>
          <a:xfrm>
            <a:off x="3529584" y="3145536"/>
            <a:ext cx="23408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1450" indent="-171450">
              <a:buFont typeface="Courier New" panose="02070309020205020404" pitchFamily="49" charset="0"/>
              <a:buChar char="o"/>
            </a:pPr>
            <a:r>
              <a:rPr lang="en-US" sz="11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Wi-Fi 6E — 6 GHz band, lower latency</a:t>
            </a:r>
          </a:p>
        </p:txBody>
      </p:sp>
      <p:sp>
        <p:nvSpPr>
          <p:cNvPr id="28" name="Text 26"/>
          <p:cNvSpPr/>
          <p:nvPr/>
        </p:nvSpPr>
        <p:spPr>
          <a:xfrm>
            <a:off x="3529584" y="3694176"/>
            <a:ext cx="23408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1450" indent="-171450">
              <a:buFont typeface="Courier New" panose="02070309020205020404" pitchFamily="49" charset="0"/>
              <a:buChar char="o"/>
            </a:pPr>
            <a:r>
              <a:rPr lang="en-US" sz="11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Bluetooth 5.3 &amp; BLE for peripherals</a:t>
            </a:r>
          </a:p>
        </p:txBody>
      </p:sp>
      <p:sp>
        <p:nvSpPr>
          <p:cNvPr id="30" name="Text 28"/>
          <p:cNvSpPr/>
          <p:nvPr/>
        </p:nvSpPr>
        <p:spPr>
          <a:xfrm>
            <a:off x="3529584" y="4242816"/>
            <a:ext cx="23408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1450" indent="-171450">
              <a:buFont typeface="Courier New" panose="02070309020205020404" pitchFamily="49" charset="0"/>
              <a:buChar char="o"/>
            </a:pPr>
            <a:r>
              <a:rPr lang="en-US" sz="11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NFC — tap-to-pay &amp; data transfer</a:t>
            </a:r>
          </a:p>
        </p:txBody>
      </p:sp>
      <p:sp>
        <p:nvSpPr>
          <p:cNvPr id="31" name="Shape 29"/>
          <p:cNvSpPr/>
          <p:nvPr/>
        </p:nvSpPr>
        <p:spPr>
          <a:xfrm>
            <a:off x="6126480" y="1975104"/>
            <a:ext cx="2788920" cy="2907792"/>
          </a:xfrm>
          <a:prstGeom prst="rect">
            <a:avLst/>
          </a:prstGeom>
          <a:solidFill>
            <a:srgbClr val="F4F6FB"/>
          </a:solidFill>
          <a:ln w="12700">
            <a:solidFill>
              <a:srgbClr val="E2E8F4"/>
            </a:solidFill>
            <a:prstDash val="solid"/>
          </a:ln>
          <a:effectLst>
            <a:outerShdw blurRad="101600" dist="38100" dir="8100000" algn="bl" rotWithShape="0">
              <a:srgbClr val="94A3B8">
                <a:alpha val="2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126480" y="1975104"/>
            <a:ext cx="2788920" cy="54864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199632" y="1993392"/>
            <a:ext cx="264261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kern="0" spc="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💻  SOFTWARE</a:t>
            </a:r>
            <a:endParaRPr lang="en-US" sz="14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35" name="Text 33"/>
          <p:cNvSpPr/>
          <p:nvPr/>
        </p:nvSpPr>
        <p:spPr>
          <a:xfrm>
            <a:off x="6455664" y="2596896"/>
            <a:ext cx="23408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1450" indent="-171450">
              <a:buFont typeface="Wingdings" panose="05000000000000000000" pitchFamily="2" charset="2"/>
              <a:buChar char="ü"/>
            </a:pPr>
            <a:r>
              <a:rPr lang="en-US" sz="11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iOS 17 &amp; Android 14 operating systems</a:t>
            </a:r>
          </a:p>
        </p:txBody>
      </p:sp>
      <p:sp>
        <p:nvSpPr>
          <p:cNvPr id="37" name="Text 35"/>
          <p:cNvSpPr/>
          <p:nvPr/>
        </p:nvSpPr>
        <p:spPr>
          <a:xfrm>
            <a:off x="6455664" y="3145536"/>
            <a:ext cx="23408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1450" indent="-171450">
              <a:buFont typeface="Wingdings" panose="05000000000000000000" pitchFamily="2" charset="2"/>
              <a:buChar char="ü"/>
            </a:pPr>
            <a:r>
              <a:rPr lang="en-US" sz="11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Native, hybrid &amp; web apps</a:t>
            </a:r>
          </a:p>
        </p:txBody>
      </p:sp>
      <p:sp>
        <p:nvSpPr>
          <p:cNvPr id="39" name="Text 37"/>
          <p:cNvSpPr/>
          <p:nvPr/>
        </p:nvSpPr>
        <p:spPr>
          <a:xfrm>
            <a:off x="6455664" y="3694176"/>
            <a:ext cx="23408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1450" indent="-171450">
              <a:buFont typeface="Wingdings" panose="05000000000000000000" pitchFamily="2" charset="2"/>
              <a:buChar char="ü"/>
            </a:pPr>
            <a:r>
              <a:rPr lang="en-US" sz="11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Cloud sync — iCloud, Google Drive</a:t>
            </a:r>
          </a:p>
        </p:txBody>
      </p:sp>
      <p:sp>
        <p:nvSpPr>
          <p:cNvPr id="41" name="Text 39"/>
          <p:cNvSpPr/>
          <p:nvPr/>
        </p:nvSpPr>
        <p:spPr>
          <a:xfrm>
            <a:off x="6455664" y="4242816"/>
            <a:ext cx="23408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1450" indent="-171450">
              <a:buFont typeface="Wingdings" panose="05000000000000000000" pitchFamily="2" charset="2"/>
              <a:buChar char="ü"/>
            </a:pPr>
            <a:r>
              <a:rPr lang="en-US" sz="11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Location &amp; sensor-aware services</a:t>
            </a:r>
          </a:p>
        </p:txBody>
      </p:sp>
      <p:sp>
        <p:nvSpPr>
          <p:cNvPr id="42" name="Shape 40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82880" y="4773168"/>
            <a:ext cx="8778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chemeClr val="tx1">
                    <a:lumMod val="95000"/>
                    <a:lumOff val="5000"/>
                  </a:schemeClr>
                </a:solidFill>
              </a:rPr>
              <a:t>🌍  6.9 billion smartphone users worldwide  ·  📲  Over 5 million apps on all stores  ·  💰  $935B mobile app market by 2027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789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78992"/>
            <a:ext cx="9144000" cy="54864"/>
          </a:xfrm>
          <a:prstGeom prst="rect">
            <a:avLst/>
          </a:prstGeom>
          <a:solidFill>
            <a:srgbClr val="E2E8F4"/>
          </a:solidFill>
          <a:ln w="12700">
            <a:solidFill>
              <a:srgbClr val="E2E8F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9144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Mobile OS &amp; Platforms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274320" y="713232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DBEAFE"/>
                </a:solidFill>
              </a:rPr>
              <a:t>The ecosystems that power billions of devices globally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274320" y="1188720"/>
            <a:ext cx="2788920" cy="1207008"/>
          </a:xfrm>
          <a:prstGeom prst="rect">
            <a:avLst/>
          </a:prstGeom>
          <a:solidFill>
            <a:srgbClr val="F4F6FB"/>
          </a:solidFill>
          <a:ln w="12700">
            <a:solidFill>
              <a:srgbClr val="059669"/>
            </a:solidFill>
            <a:prstDash val="solid"/>
          </a:ln>
          <a:effectLst>
            <a:outerShdw blurRad="101600" dist="38100" dir="8100000" algn="bl" rotWithShape="0">
              <a:srgbClr val="94A3B8">
                <a:alpha val="2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20040" y="1216152"/>
            <a:ext cx="2697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000" b="1" dirty="0">
                <a:solidFill>
                  <a:srgbClr val="0596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71%</a:t>
            </a:r>
            <a:endParaRPr lang="en-US" sz="5000" dirty="0"/>
          </a:p>
        </p:txBody>
      </p:sp>
      <p:sp>
        <p:nvSpPr>
          <p:cNvPr id="8" name="Text 6"/>
          <p:cNvSpPr/>
          <p:nvPr/>
        </p:nvSpPr>
        <p:spPr>
          <a:xfrm>
            <a:off x="320040" y="1911096"/>
            <a:ext cx="2697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</a:rPr>
              <a:t>Android Market Share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0400" y="1188720"/>
            <a:ext cx="2788920" cy="1207008"/>
          </a:xfrm>
          <a:prstGeom prst="rect">
            <a:avLst/>
          </a:prstGeom>
          <a:solidFill>
            <a:srgbClr val="F4F6FB"/>
          </a:solidFill>
          <a:ln w="12700">
            <a:solidFill>
              <a:srgbClr val="2563EB"/>
            </a:solidFill>
            <a:prstDash val="solid"/>
          </a:ln>
          <a:effectLst>
            <a:outerShdw blurRad="101600" dist="38100" dir="8100000" algn="bl" rotWithShape="0">
              <a:srgbClr val="94A3B8">
                <a:alpha val="2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246120" y="1216152"/>
            <a:ext cx="2697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000" b="1" dirty="0">
                <a:solidFill>
                  <a:srgbClr val="2563E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28%</a:t>
            </a:r>
            <a:endParaRPr lang="en-US" sz="5000" dirty="0"/>
          </a:p>
        </p:txBody>
      </p:sp>
      <p:sp>
        <p:nvSpPr>
          <p:cNvPr id="11" name="Text 9"/>
          <p:cNvSpPr/>
          <p:nvPr/>
        </p:nvSpPr>
        <p:spPr>
          <a:xfrm>
            <a:off x="3246120" y="1911096"/>
            <a:ext cx="2697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</a:rPr>
              <a:t>iOS Market Share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126480" y="1188720"/>
            <a:ext cx="2788920" cy="1207008"/>
          </a:xfrm>
          <a:prstGeom prst="rect">
            <a:avLst/>
          </a:prstGeom>
          <a:solidFill>
            <a:srgbClr val="F4F6FB"/>
          </a:solidFill>
          <a:ln w="12700">
            <a:solidFill>
              <a:srgbClr val="D97706"/>
            </a:solidFill>
            <a:prstDash val="solid"/>
          </a:ln>
          <a:effectLst>
            <a:outerShdw blurRad="101600" dist="38100" dir="8100000" algn="bl" rotWithShape="0">
              <a:srgbClr val="94A3B8">
                <a:alpha val="2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172200" y="1216152"/>
            <a:ext cx="2697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000" b="1" dirty="0">
                <a:solidFill>
                  <a:srgbClr val="D9770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6.9B</a:t>
            </a:r>
            <a:endParaRPr lang="en-US" sz="5000" dirty="0"/>
          </a:p>
        </p:txBody>
      </p:sp>
      <p:sp>
        <p:nvSpPr>
          <p:cNvPr id="14" name="Text 12"/>
          <p:cNvSpPr/>
          <p:nvPr/>
        </p:nvSpPr>
        <p:spPr>
          <a:xfrm>
            <a:off x="6172200" y="1911096"/>
            <a:ext cx="2697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</a:rPr>
              <a:t>Smartphone Users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74320" y="2523744"/>
            <a:ext cx="1828800" cy="402336"/>
          </a:xfrm>
          <a:prstGeom prst="rect">
            <a:avLst/>
          </a:prstGeom>
          <a:solidFill>
            <a:srgbClr val="0D9488"/>
          </a:solidFill>
          <a:ln w="12700">
            <a:solidFill>
              <a:srgbClr val="E2E8F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47472" y="2523744"/>
            <a:ext cx="1737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Feature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103120" y="2523744"/>
            <a:ext cx="2651760" cy="402336"/>
          </a:xfrm>
          <a:prstGeom prst="rect">
            <a:avLst/>
          </a:prstGeom>
          <a:solidFill>
            <a:srgbClr val="0D9488"/>
          </a:solidFill>
          <a:ln w="12700">
            <a:solidFill>
              <a:srgbClr val="E2E8F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176272" y="2523744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Android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754880" y="2523744"/>
            <a:ext cx="2651760" cy="402336"/>
          </a:xfrm>
          <a:prstGeom prst="rect">
            <a:avLst/>
          </a:prstGeom>
          <a:solidFill>
            <a:srgbClr val="0D9488"/>
          </a:solidFill>
          <a:ln w="12700">
            <a:solidFill>
              <a:srgbClr val="E2E8F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28032" y="2523744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iOS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74320" y="2926080"/>
            <a:ext cx="1828800" cy="402336"/>
          </a:xfrm>
          <a:prstGeom prst="rect">
            <a:avLst/>
          </a:prstGeom>
          <a:solidFill>
            <a:srgbClr val="F4F6FB"/>
          </a:solidFill>
          <a:ln w="12700">
            <a:solidFill>
              <a:srgbClr val="E2E8F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7472" y="2926080"/>
            <a:ext cx="1737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</a:rPr>
              <a:t>Language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103120" y="2926080"/>
            <a:ext cx="2651760" cy="402336"/>
          </a:xfrm>
          <a:prstGeom prst="rect">
            <a:avLst/>
          </a:prstGeom>
          <a:solidFill>
            <a:srgbClr val="F4F6FB"/>
          </a:solidFill>
          <a:ln w="12700">
            <a:solidFill>
              <a:srgbClr val="E2E8F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176272" y="2926080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</a:rPr>
              <a:t>Kotlin / Java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754880" y="2926080"/>
            <a:ext cx="2651760" cy="402336"/>
          </a:xfrm>
          <a:prstGeom prst="rect">
            <a:avLst/>
          </a:prstGeom>
          <a:solidFill>
            <a:srgbClr val="F4F6FB"/>
          </a:solidFill>
          <a:ln w="12700">
            <a:solidFill>
              <a:srgbClr val="E2E8F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28032" y="2926080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</a:rPr>
              <a:t>Swift / Obj-C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274320" y="3328416"/>
            <a:ext cx="182880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47472" y="3328416"/>
            <a:ext cx="1737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</a:rPr>
              <a:t>IDE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2103120" y="3328416"/>
            <a:ext cx="265176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176272" y="3328416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</a:rPr>
              <a:t>Android Studio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754880" y="3328416"/>
            <a:ext cx="265176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28032" y="3328416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</a:rPr>
              <a:t>Xcode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274320" y="3730752"/>
            <a:ext cx="1828800" cy="402336"/>
          </a:xfrm>
          <a:prstGeom prst="rect">
            <a:avLst/>
          </a:prstGeom>
          <a:solidFill>
            <a:srgbClr val="F4F6FB"/>
          </a:solidFill>
          <a:ln w="12700">
            <a:solidFill>
              <a:srgbClr val="E2E8F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47472" y="3730752"/>
            <a:ext cx="1737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</a:rPr>
              <a:t>App Store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2103120" y="3730752"/>
            <a:ext cx="2651760" cy="402336"/>
          </a:xfrm>
          <a:prstGeom prst="rect">
            <a:avLst/>
          </a:prstGeom>
          <a:solidFill>
            <a:srgbClr val="F4F6FB"/>
          </a:solidFill>
          <a:ln w="12700">
            <a:solidFill>
              <a:srgbClr val="E2E8F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176272" y="3730752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</a:rPr>
              <a:t>Google Play Store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754880" y="3730752"/>
            <a:ext cx="2651760" cy="402336"/>
          </a:xfrm>
          <a:prstGeom prst="rect">
            <a:avLst/>
          </a:prstGeom>
          <a:solidFill>
            <a:srgbClr val="F4F6FB"/>
          </a:solidFill>
          <a:ln w="12700">
            <a:solidFill>
              <a:srgbClr val="E2E8F4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28032" y="3730752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</a:rPr>
              <a:t>Apple App Store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274320" y="4133088"/>
            <a:ext cx="182880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4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47472" y="4133088"/>
            <a:ext cx="1737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</a:rPr>
              <a:t>Open Source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2103120" y="4133088"/>
            <a:ext cx="265176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4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176272" y="4133088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</a:rPr>
              <a:t>Yes (AOSP)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4754880" y="4133088"/>
            <a:ext cx="265176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4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828032" y="4133088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</a:rPr>
              <a:t>Partially open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274320" y="4535424"/>
            <a:ext cx="1828800" cy="402336"/>
          </a:xfrm>
          <a:prstGeom prst="rect">
            <a:avLst/>
          </a:prstGeom>
          <a:solidFill>
            <a:srgbClr val="F4F6FB"/>
          </a:solidFill>
          <a:ln w="12700">
            <a:solidFill>
              <a:srgbClr val="E2E8F4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47472" y="4535424"/>
            <a:ext cx="1737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</a:rPr>
              <a:t>Example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2103120" y="4535424"/>
            <a:ext cx="2651760" cy="402336"/>
          </a:xfrm>
          <a:prstGeom prst="rect">
            <a:avLst/>
          </a:prstGeom>
          <a:solidFill>
            <a:srgbClr val="F4F6FB"/>
          </a:solidFill>
          <a:ln w="12700">
            <a:solidFill>
              <a:srgbClr val="E2E8F4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176272" y="4535424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</a:rPr>
              <a:t>Samsung Galaxy S24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4754880" y="4535424"/>
            <a:ext cx="2651760" cy="402336"/>
          </a:xfrm>
          <a:prstGeom prst="rect">
            <a:avLst/>
          </a:prstGeom>
          <a:solidFill>
            <a:srgbClr val="F4F6FB"/>
          </a:solidFill>
          <a:ln w="12700">
            <a:solidFill>
              <a:srgbClr val="E2E8F4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828032" y="4535424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</a:rPr>
              <a:t>iPhone 15 Pro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7315200" y="2523744"/>
            <a:ext cx="1536192" cy="2359152"/>
          </a:xfrm>
          <a:prstGeom prst="rect">
            <a:avLst/>
          </a:prstGeom>
          <a:solidFill>
            <a:srgbClr val="F4F6FB"/>
          </a:solidFill>
          <a:ln w="12700">
            <a:solidFill>
              <a:srgbClr val="D97706"/>
            </a:solidFill>
            <a:prstDash val="solid"/>
          </a:ln>
          <a:effectLst>
            <a:outerShdw blurRad="101600" dist="38100" dir="8100000" algn="bl" rotWithShape="0">
              <a:srgbClr val="94A3B8">
                <a:alpha val="22000"/>
              </a:srgbClr>
            </a:outerShdw>
          </a:effectLst>
        </p:spPr>
      </p:sp>
      <p:sp>
        <p:nvSpPr>
          <p:cNvPr id="52" name="Shape 50"/>
          <p:cNvSpPr/>
          <p:nvPr/>
        </p:nvSpPr>
        <p:spPr>
          <a:xfrm>
            <a:off x="7315200" y="2523744"/>
            <a:ext cx="1536192" cy="38404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315200" y="2523744"/>
            <a:ext cx="15361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Others</a:t>
            </a:r>
            <a:endParaRPr lang="en-US" sz="1200" dirty="0"/>
          </a:p>
        </p:txBody>
      </p:sp>
      <p:sp>
        <p:nvSpPr>
          <p:cNvPr id="54" name="Text 52"/>
          <p:cNvSpPr/>
          <p:nvPr/>
        </p:nvSpPr>
        <p:spPr>
          <a:xfrm>
            <a:off x="7388352" y="2980944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• HarmonyOS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7388352" y="3346704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• KaiOS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7388352" y="3712464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• Tizen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7388352" y="4078224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• watchOS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7388352" y="4443984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• Wear OS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3305" y="91440"/>
            <a:ext cx="9010358" cy="987552"/>
          </a:xfrm>
          <a:prstGeom prst="rect">
            <a:avLst/>
          </a:prstGeom>
          <a:solidFill>
            <a:schemeClr val="accent1">
              <a:lumMod val="50000"/>
            </a:scheme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78992"/>
            <a:ext cx="9144000" cy="54864"/>
          </a:xfrm>
          <a:prstGeom prst="rect">
            <a:avLst/>
          </a:prstGeom>
          <a:solidFill>
            <a:srgbClr val="E2E8F4"/>
          </a:solidFill>
          <a:ln w="12700">
            <a:solidFill>
              <a:srgbClr val="E2E8F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9144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Advanced App Architecture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274320" y="713232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DBEAFE"/>
                </a:solidFill>
              </a:rPr>
              <a:t>How professional apps are structured for scale, testability &amp; maintainability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274320" y="1152144"/>
            <a:ext cx="2788920" cy="3794760"/>
          </a:xfrm>
          <a:prstGeom prst="rect">
            <a:avLst/>
          </a:prstGeom>
          <a:solidFill>
            <a:srgbClr val="F4F6FB"/>
          </a:solidFill>
          <a:ln w="12700">
            <a:solidFill>
              <a:srgbClr val="E2E8F4"/>
            </a:solidFill>
            <a:prstDash val="solid"/>
          </a:ln>
          <a:effectLst>
            <a:outerShdw blurRad="101600" dist="38100" dir="8100000" algn="bl" rotWithShape="0">
              <a:srgbClr val="94A3B8">
                <a:alpha val="2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152144"/>
            <a:ext cx="2788920" cy="62179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161288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MVC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320040" y="1527048"/>
            <a:ext cx="2697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FFFFFF"/>
                </a:solidFill>
              </a:rPr>
              <a:t>Model · View · Controller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20624" y="1901952"/>
            <a:ext cx="2496312" cy="548640"/>
          </a:xfrm>
          <a:prstGeom prst="rect">
            <a:avLst/>
          </a:prstGeom>
          <a:solidFill>
            <a:srgbClr val="EDE9FE"/>
          </a:solidFill>
          <a:ln w="12700">
            <a:solidFill>
              <a:srgbClr val="E2E8F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" y="1929384"/>
            <a:ext cx="23865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C3AED"/>
                </a:solidFill>
              </a:rPr>
              <a:t>Model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75488" y="2176272"/>
            <a:ext cx="23865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Data &amp; business rules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20624" y="2560320"/>
            <a:ext cx="2496312" cy="548640"/>
          </a:xfrm>
          <a:prstGeom prst="rect">
            <a:avLst/>
          </a:prstGeom>
          <a:solidFill>
            <a:srgbClr val="DDD6FE"/>
          </a:solidFill>
          <a:ln w="12700">
            <a:solidFill>
              <a:srgbClr val="E2E8F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5488" y="2587752"/>
            <a:ext cx="23865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C3AED"/>
                </a:solidFill>
              </a:rPr>
              <a:t>Controller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75488" y="2834640"/>
            <a:ext cx="23865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Bridges model &amp; view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20624" y="3218688"/>
            <a:ext cx="2496312" cy="548640"/>
          </a:xfrm>
          <a:prstGeom prst="rect">
            <a:avLst/>
          </a:prstGeom>
          <a:solidFill>
            <a:srgbClr val="C4B5FD"/>
          </a:solidFill>
          <a:ln w="12700">
            <a:solidFill>
              <a:srgbClr val="E2E8F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5488" y="3246120"/>
            <a:ext cx="23865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C3AED"/>
                </a:solidFill>
              </a:rPr>
              <a:t>View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75488" y="3493008"/>
            <a:ext cx="23865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UI the user sees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20624" y="3913632"/>
            <a:ext cx="2496312" cy="877824"/>
          </a:xfrm>
          <a:prstGeom prst="rect">
            <a:avLst/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5488" y="3950208"/>
            <a:ext cx="238658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📱 Example: UIKit-based iOS apps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(Apple's native UIKit uses MVC by default)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200400" y="1152144"/>
            <a:ext cx="2788920" cy="3794760"/>
          </a:xfrm>
          <a:prstGeom prst="rect">
            <a:avLst/>
          </a:prstGeom>
          <a:solidFill>
            <a:srgbClr val="F4F6FB"/>
          </a:solidFill>
          <a:ln w="12700">
            <a:solidFill>
              <a:srgbClr val="E2E8F4"/>
            </a:solidFill>
            <a:prstDash val="solid"/>
          </a:ln>
          <a:effectLst>
            <a:outerShdw blurRad="101600" dist="38100" dir="8100000" algn="bl" rotWithShape="0">
              <a:srgbClr val="94A3B8">
                <a:alpha val="2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00400" y="1152144"/>
            <a:ext cx="2788920" cy="62179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46120" y="1161288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MVVM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3246120" y="1527048"/>
            <a:ext cx="2697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FFFFFF"/>
                </a:solidFill>
              </a:rPr>
              <a:t>Model · View · ViewModel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346704" y="1901952"/>
            <a:ext cx="2496312" cy="548640"/>
          </a:xfrm>
          <a:prstGeom prst="rect">
            <a:avLst/>
          </a:prstGeom>
          <a:solidFill>
            <a:srgbClr val="CFFAFE"/>
          </a:solidFill>
          <a:ln w="12700">
            <a:solidFill>
              <a:srgbClr val="E2E8F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401568" y="1929384"/>
            <a:ext cx="23865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891B2"/>
                </a:solidFill>
              </a:rPr>
              <a:t>Model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401568" y="2176272"/>
            <a:ext cx="23865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Raw data &amp; API calls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3346704" y="2560320"/>
            <a:ext cx="2496312" cy="548640"/>
          </a:xfrm>
          <a:prstGeom prst="rect">
            <a:avLst/>
          </a:prstGeom>
          <a:solidFill>
            <a:srgbClr val="A5F3FC"/>
          </a:solidFill>
          <a:ln w="12700">
            <a:solidFill>
              <a:srgbClr val="E2E8F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401568" y="2587752"/>
            <a:ext cx="23865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891B2"/>
                </a:solidFill>
              </a:rPr>
              <a:t>ViewModel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3401568" y="2834640"/>
            <a:ext cx="23865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Data binding + logic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3346704" y="3218688"/>
            <a:ext cx="2496312" cy="548640"/>
          </a:xfrm>
          <a:prstGeom prst="rect">
            <a:avLst/>
          </a:prstGeom>
          <a:solidFill>
            <a:srgbClr val="67E8F9"/>
          </a:solidFill>
          <a:ln w="12700">
            <a:solidFill>
              <a:srgbClr val="E2E8F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401568" y="3246120"/>
            <a:ext cx="23865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891B2"/>
                </a:solidFill>
              </a:rPr>
              <a:t>View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3401568" y="3493008"/>
            <a:ext cx="23865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Reacts to VM changes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3346704" y="3913632"/>
            <a:ext cx="2496312" cy="877824"/>
          </a:xfrm>
          <a:prstGeom prst="rect">
            <a:avLst/>
          </a:prstGeom>
          <a:solidFill>
            <a:srgbClr val="FFFFFF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401568" y="3950208"/>
            <a:ext cx="238658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📱 Example: SwiftUI + Combine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Jetpack Compose (Android) — Google's modern UI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6126480" y="1152144"/>
            <a:ext cx="2788920" cy="3794760"/>
          </a:xfrm>
          <a:prstGeom prst="rect">
            <a:avLst/>
          </a:prstGeom>
          <a:solidFill>
            <a:srgbClr val="F4F6FB"/>
          </a:solidFill>
          <a:ln w="12700">
            <a:solidFill>
              <a:srgbClr val="E2E8F4"/>
            </a:solidFill>
            <a:prstDash val="solid"/>
          </a:ln>
          <a:effectLst>
            <a:outerShdw blurRad="101600" dist="38100" dir="8100000" algn="bl" rotWithShape="0">
              <a:srgbClr val="94A3B8">
                <a:alpha val="22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6126480" y="1152144"/>
            <a:ext cx="2788920" cy="62179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172200" y="1161288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Clean Arch</a:t>
            </a:r>
            <a:endParaRPr lang="en-US" sz="2000" dirty="0"/>
          </a:p>
        </p:txBody>
      </p:sp>
      <p:sp>
        <p:nvSpPr>
          <p:cNvPr id="39" name="Text 37"/>
          <p:cNvSpPr/>
          <p:nvPr/>
        </p:nvSpPr>
        <p:spPr>
          <a:xfrm>
            <a:off x="6172200" y="1527048"/>
            <a:ext cx="2697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FFFFFF"/>
                </a:solidFill>
              </a:rPr>
              <a:t>Layered Clean Architecture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6272784" y="1901952"/>
            <a:ext cx="2496312" cy="548640"/>
          </a:xfrm>
          <a:prstGeom prst="rect">
            <a:avLst/>
          </a:prstGeom>
          <a:solidFill>
            <a:srgbClr val="FEF3C7"/>
          </a:solidFill>
          <a:ln w="12700">
            <a:solidFill>
              <a:srgbClr val="E2E8F4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327648" y="1929384"/>
            <a:ext cx="23865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97706"/>
                </a:solidFill>
              </a:rPr>
              <a:t>Presentation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6327648" y="2176272"/>
            <a:ext cx="23865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UI + ViewModels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6272784" y="2560320"/>
            <a:ext cx="2496312" cy="548640"/>
          </a:xfrm>
          <a:prstGeom prst="rect">
            <a:avLst/>
          </a:prstGeom>
          <a:solidFill>
            <a:srgbClr val="FDE68A"/>
          </a:solidFill>
          <a:ln w="12700">
            <a:solidFill>
              <a:srgbClr val="E2E8F4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327648" y="2587752"/>
            <a:ext cx="23865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97706"/>
                </a:solidFill>
              </a:rPr>
              <a:t>Domain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6327648" y="2834640"/>
            <a:ext cx="23865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Use cases &amp; entities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6272784" y="3218688"/>
            <a:ext cx="2496312" cy="548640"/>
          </a:xfrm>
          <a:prstGeom prst="rect">
            <a:avLst/>
          </a:prstGeom>
          <a:solidFill>
            <a:srgbClr val="FCD34D"/>
          </a:solidFill>
          <a:ln w="12700">
            <a:solidFill>
              <a:srgbClr val="E2E8F4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327648" y="3246120"/>
            <a:ext cx="23865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97706"/>
                </a:solidFill>
              </a:rPr>
              <a:t>Data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6327648" y="3493008"/>
            <a:ext cx="23865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Repositories &amp; APIs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6272784" y="3913632"/>
            <a:ext cx="2496312" cy="877824"/>
          </a:xfrm>
          <a:prstGeom prst="rect">
            <a:avLst/>
          </a:prstGeom>
          <a:solidFill>
            <a:srgbClr val="FFFFFF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327648" y="3950208"/>
            <a:ext cx="238658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📱 Example: Large-scale Android apps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Used by Uber, Twitter mobile codebases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78992"/>
          </a:xfrm>
          <a:prstGeom prst="rect">
            <a:avLst/>
          </a:prstGeom>
          <a:solidFill>
            <a:schemeClr val="bg2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78992"/>
            <a:ext cx="9144000" cy="54864"/>
          </a:xfrm>
          <a:prstGeom prst="rect">
            <a:avLst/>
          </a:prstGeom>
          <a:solidFill>
            <a:srgbClr val="E2E8F4"/>
          </a:solidFill>
          <a:ln w="12700">
            <a:solidFill>
              <a:srgbClr val="E2E8F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9144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Cross-Platform Development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274320" y="713232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/>
              <a:t>Build once — deploy to iOS, Android, Web, Desktop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274320" y="1152144"/>
            <a:ext cx="4206240" cy="3840480"/>
          </a:xfrm>
          <a:prstGeom prst="rect">
            <a:avLst/>
          </a:prstGeom>
          <a:solidFill>
            <a:srgbClr val="F4F6FB"/>
          </a:solidFill>
          <a:ln w="12700">
            <a:solidFill>
              <a:srgbClr val="E2E8F4"/>
            </a:solidFill>
            <a:prstDash val="solid"/>
          </a:ln>
          <a:effectLst>
            <a:outerShdw blurRad="101600" dist="38100" dir="8100000" algn="bl" rotWithShape="0">
              <a:srgbClr val="94A3B8">
                <a:alpha val="2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152144"/>
            <a:ext cx="4206240" cy="804672"/>
          </a:xfrm>
          <a:prstGeom prst="rect">
            <a:avLst/>
          </a:prstGeom>
          <a:solidFill>
            <a:schemeClr val="bg2">
              <a:lumMod val="90000"/>
            </a:schemeClr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170432"/>
            <a:ext cx="4023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React Native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365760" y="1645920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/>
              <a:t>JavaScript / TypeScript  ·  By Meta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38912" y="208483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/>
              <a:t>✓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04672" y="2066544"/>
            <a:ext cx="3566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/>
              <a:t>Massive npm ecosystem</a:t>
            </a:r>
          </a:p>
        </p:txBody>
      </p:sp>
      <p:sp>
        <p:nvSpPr>
          <p:cNvPr id="14" name="Text 12"/>
          <p:cNvSpPr/>
          <p:nvPr/>
        </p:nvSpPr>
        <p:spPr>
          <a:xfrm>
            <a:off x="438912" y="259689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/>
              <a:t>✓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04672" y="2578608"/>
            <a:ext cx="3566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/>
              <a:t>~70–80% code reuse</a:t>
            </a:r>
          </a:p>
        </p:txBody>
      </p:sp>
      <p:sp>
        <p:nvSpPr>
          <p:cNvPr id="17" name="Text 15"/>
          <p:cNvSpPr/>
          <p:nvPr/>
        </p:nvSpPr>
        <p:spPr>
          <a:xfrm>
            <a:off x="438912" y="31089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/>
              <a:t>✓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804672" y="3090672"/>
            <a:ext cx="3566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/>
              <a:t>Hot reload in dev</a:t>
            </a:r>
          </a:p>
        </p:txBody>
      </p:sp>
      <p:sp>
        <p:nvSpPr>
          <p:cNvPr id="20" name="Text 18"/>
          <p:cNvSpPr/>
          <p:nvPr/>
        </p:nvSpPr>
        <p:spPr>
          <a:xfrm>
            <a:off x="438912" y="362102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/>
              <a:t>✓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804672" y="3602736"/>
            <a:ext cx="3566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/>
              <a:t>Native UI components</a:t>
            </a:r>
          </a:p>
        </p:txBody>
      </p:sp>
      <p:sp>
        <p:nvSpPr>
          <p:cNvPr id="22" name="Shape 20"/>
          <p:cNvSpPr/>
          <p:nvPr/>
        </p:nvSpPr>
        <p:spPr>
          <a:xfrm>
            <a:off x="438912" y="4169664"/>
            <a:ext cx="3877056" cy="694944"/>
          </a:xfrm>
          <a:prstGeom prst="rect">
            <a:avLst/>
          </a:prstGeom>
          <a:solidFill>
            <a:srgbClr val="EFF6FF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3776" y="4206240"/>
            <a:ext cx="376732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/>
              <a:t>📱 Used by: Facebook, Instagram, Shopify, Discord, Walmart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709160" y="1152144"/>
            <a:ext cx="4206240" cy="3840480"/>
          </a:xfrm>
          <a:prstGeom prst="rect">
            <a:avLst/>
          </a:prstGeom>
          <a:solidFill>
            <a:srgbClr val="F4F6FB"/>
          </a:solidFill>
          <a:ln w="12700">
            <a:solidFill>
              <a:srgbClr val="E2E8F4"/>
            </a:solidFill>
            <a:prstDash val="solid"/>
          </a:ln>
          <a:effectLst>
            <a:outerShdw blurRad="101600" dist="38100" dir="8100000" algn="bl" rotWithShape="0">
              <a:srgbClr val="94A3B8">
                <a:alpha val="2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09160" y="1152144"/>
            <a:ext cx="4206240" cy="804672"/>
          </a:xfrm>
          <a:prstGeom prst="rect">
            <a:avLst/>
          </a:prstGeom>
          <a:solidFill>
            <a:schemeClr val="bg2">
              <a:lumMod val="90000"/>
            </a:schemeClr>
          </a:solidFill>
          <a:ln w="12700">
            <a:solidFill>
              <a:schemeClr val="bg2">
                <a:lumMod val="90000"/>
              </a:scheme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00600" y="1170432"/>
            <a:ext cx="4023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Flutter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4800600" y="1645920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/>
              <a:t>Dart Language  ·  By Google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4873752" y="208483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/>
              <a:t>✓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239512" y="2066544"/>
            <a:ext cx="3566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/>
              <a:t>Pixel-perfect custom UI</a:t>
            </a:r>
          </a:p>
        </p:txBody>
      </p:sp>
      <p:sp>
        <p:nvSpPr>
          <p:cNvPr id="32" name="Text 30"/>
          <p:cNvSpPr/>
          <p:nvPr/>
        </p:nvSpPr>
        <p:spPr>
          <a:xfrm>
            <a:off x="4873752" y="259689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/>
              <a:t>✓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239512" y="2578608"/>
            <a:ext cx="3566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/>
              <a:t>6 platform targets</a:t>
            </a:r>
          </a:p>
        </p:txBody>
      </p:sp>
      <p:sp>
        <p:nvSpPr>
          <p:cNvPr id="35" name="Text 33"/>
          <p:cNvSpPr/>
          <p:nvPr/>
        </p:nvSpPr>
        <p:spPr>
          <a:xfrm>
            <a:off x="4873752" y="31089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/>
              <a:t>✓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239512" y="3090672"/>
            <a:ext cx="3566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/>
              <a:t>Excellent performance</a:t>
            </a:r>
          </a:p>
        </p:txBody>
      </p:sp>
      <p:sp>
        <p:nvSpPr>
          <p:cNvPr id="38" name="Text 36"/>
          <p:cNvSpPr/>
          <p:nvPr/>
        </p:nvSpPr>
        <p:spPr>
          <a:xfrm>
            <a:off x="4873752" y="362102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/>
              <a:t>✓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5239512" y="3602736"/>
            <a:ext cx="3566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/>
              <a:t>Fastest growing 2024–26</a:t>
            </a:r>
          </a:p>
        </p:txBody>
      </p:sp>
      <p:sp>
        <p:nvSpPr>
          <p:cNvPr id="40" name="Shape 38"/>
          <p:cNvSpPr/>
          <p:nvPr/>
        </p:nvSpPr>
        <p:spPr>
          <a:xfrm>
            <a:off x="4873752" y="4169664"/>
            <a:ext cx="3877056" cy="694944"/>
          </a:xfrm>
          <a:prstGeom prst="rect">
            <a:avLst/>
          </a:prstGeom>
          <a:solidFill>
            <a:srgbClr val="EFF6FF"/>
          </a:solidFill>
          <a:ln w="12700">
            <a:solidFill>
              <a:schemeClr val="bg2">
                <a:lumMod val="90000"/>
              </a:scheme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928616" y="4206240"/>
            <a:ext cx="376732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/>
              <a:t>📱 Used by: Google Pay, Alibaba, eBay Motors, BMW App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0" y="4864608"/>
            <a:ext cx="9144000" cy="27889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2">
                <a:lumMod val="90000"/>
              </a:schemeClr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74320" y="4882896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7034"/>
            <a:ext cx="9144000" cy="107899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12700">
            <a:solidFill>
              <a:schemeClr val="bg2">
                <a:lumMod val="90000"/>
              </a:scheme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78992"/>
            <a:ext cx="9144000" cy="54864"/>
          </a:xfrm>
          <a:prstGeom prst="rect">
            <a:avLst/>
          </a:prstGeom>
          <a:solidFill>
            <a:srgbClr val="E2E8F4"/>
          </a:solidFill>
          <a:ln w="12700">
            <a:solidFill>
              <a:srgbClr val="E2E8F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9144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APIs, REST &amp; GraphQL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274320" y="713232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/>
              <a:t>How mobile apps talk to servers — the communication backbone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274320" y="1188720"/>
            <a:ext cx="4069080" cy="3730752"/>
          </a:xfrm>
          <a:prstGeom prst="rect">
            <a:avLst/>
          </a:prstGeom>
          <a:solidFill>
            <a:srgbClr val="F4F6FB"/>
          </a:solidFill>
          <a:ln w="12700">
            <a:solidFill>
              <a:srgbClr val="2563EB"/>
            </a:solidFill>
            <a:prstDash val="solid"/>
          </a:ln>
          <a:effectLst>
            <a:outerShdw blurRad="101600" dist="38100" dir="8100000" algn="bl" rotWithShape="0">
              <a:srgbClr val="94A3B8">
                <a:alpha val="2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188720"/>
            <a:ext cx="4069080" cy="475488"/>
          </a:xfrm>
          <a:prstGeom prst="rect">
            <a:avLst/>
          </a:prstGeom>
          <a:solidFill>
            <a:schemeClr val="bg1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197864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/>
              <a:t>REST API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384048" y="1792224"/>
            <a:ext cx="804672" cy="384048"/>
          </a:xfrm>
          <a:prstGeom prst="rect">
            <a:avLst/>
          </a:prstGeom>
          <a:solidFill>
            <a:schemeClr val="bg1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84048" y="1792224"/>
            <a:ext cx="804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/>
              <a:t>GET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1280160" y="1828800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/>
              <a:t>Fetch / read data from server</a:t>
            </a:r>
          </a:p>
        </p:txBody>
      </p:sp>
      <p:sp>
        <p:nvSpPr>
          <p:cNvPr id="12" name="Shape 10"/>
          <p:cNvSpPr/>
          <p:nvPr/>
        </p:nvSpPr>
        <p:spPr>
          <a:xfrm>
            <a:off x="384048" y="2295144"/>
            <a:ext cx="804672" cy="384048"/>
          </a:xfrm>
          <a:prstGeom prst="rect">
            <a:avLst/>
          </a:prstGeom>
          <a:solidFill>
            <a:schemeClr val="bg1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84048" y="2295144"/>
            <a:ext cx="804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/>
              <a:t>POST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1280160" y="2331720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/>
              <a:t>Create new resource on server</a:t>
            </a:r>
          </a:p>
        </p:txBody>
      </p:sp>
      <p:sp>
        <p:nvSpPr>
          <p:cNvPr id="15" name="Shape 13"/>
          <p:cNvSpPr/>
          <p:nvPr/>
        </p:nvSpPr>
        <p:spPr>
          <a:xfrm>
            <a:off x="384048" y="2798064"/>
            <a:ext cx="804672" cy="38404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84048" y="2798064"/>
            <a:ext cx="804672" cy="384048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/>
              <a:t>PUT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1280160" y="2834640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/>
              <a:t>Update existing resource</a:t>
            </a:r>
          </a:p>
        </p:txBody>
      </p:sp>
      <p:sp>
        <p:nvSpPr>
          <p:cNvPr id="18" name="Shape 16"/>
          <p:cNvSpPr/>
          <p:nvPr/>
        </p:nvSpPr>
        <p:spPr>
          <a:xfrm>
            <a:off x="384048" y="3300984"/>
            <a:ext cx="804672" cy="384048"/>
          </a:xfrm>
          <a:prstGeom prst="rect">
            <a:avLst/>
          </a:prstGeom>
          <a:solidFill>
            <a:schemeClr val="bg1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84048" y="3300984"/>
            <a:ext cx="804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/>
              <a:t>DELETE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1280160" y="3337560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/>
              <a:t>Remove a resource</a:t>
            </a:r>
          </a:p>
        </p:txBody>
      </p:sp>
      <p:sp>
        <p:nvSpPr>
          <p:cNvPr id="21" name="Shape 19"/>
          <p:cNvSpPr/>
          <p:nvPr/>
        </p:nvSpPr>
        <p:spPr>
          <a:xfrm>
            <a:off x="384048" y="3803904"/>
            <a:ext cx="804672" cy="384048"/>
          </a:xfrm>
          <a:prstGeom prst="rect">
            <a:avLst/>
          </a:prstGeom>
          <a:solidFill>
            <a:schemeClr val="bg1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84048" y="3803904"/>
            <a:ext cx="804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/>
              <a:t>PATCH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1280160" y="3840480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/>
              <a:t>Partial update of resource</a:t>
            </a:r>
          </a:p>
        </p:txBody>
      </p:sp>
      <p:sp>
        <p:nvSpPr>
          <p:cNvPr id="24" name="Shape 22"/>
          <p:cNvSpPr/>
          <p:nvPr/>
        </p:nvSpPr>
        <p:spPr>
          <a:xfrm>
            <a:off x="384048" y="4315968"/>
            <a:ext cx="3730752" cy="475488"/>
          </a:xfrm>
          <a:prstGeom prst="rect">
            <a:avLst/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38912" y="4352544"/>
            <a:ext cx="36210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/>
              <a:t>Example: GET https://api.openweather.org/weather?city=NYC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572000" y="1188720"/>
            <a:ext cx="4297680" cy="1755648"/>
          </a:xfrm>
          <a:prstGeom prst="rect">
            <a:avLst/>
          </a:prstGeom>
          <a:solidFill>
            <a:srgbClr val="F4F6FB"/>
          </a:solidFill>
          <a:ln w="12700">
            <a:solidFill>
              <a:srgbClr val="DB2777"/>
            </a:solidFill>
            <a:prstDash val="solid"/>
          </a:ln>
          <a:effectLst>
            <a:outerShdw blurRad="101600" dist="38100" dir="8100000" algn="bl" rotWithShape="0">
              <a:srgbClr val="94A3B8">
                <a:alpha val="2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572000" y="1188720"/>
            <a:ext cx="4297680" cy="475488"/>
          </a:xfrm>
          <a:prstGeom prst="rect">
            <a:avLst/>
          </a:prstGeom>
          <a:solidFill>
            <a:schemeClr val="bg1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626864" y="1197864"/>
            <a:ext cx="4187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/>
              <a:t>GraphQL  —  Fetch Only What You Need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663440" y="1773936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/>
              <a:t>▶  Single endpoint — not dozens of REST routes</a:t>
            </a:r>
          </a:p>
        </p:txBody>
      </p:sp>
      <p:sp>
        <p:nvSpPr>
          <p:cNvPr id="30" name="Text 28"/>
          <p:cNvSpPr/>
          <p:nvPr/>
        </p:nvSpPr>
        <p:spPr>
          <a:xfrm>
            <a:off x="4663440" y="2157984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/>
              <a:t>▶  Client specifies exact fields — no over-fetching</a:t>
            </a:r>
          </a:p>
        </p:txBody>
      </p:sp>
      <p:sp>
        <p:nvSpPr>
          <p:cNvPr id="31" name="Text 29"/>
          <p:cNvSpPr/>
          <p:nvPr/>
        </p:nvSpPr>
        <p:spPr>
          <a:xfrm>
            <a:off x="4663440" y="2542032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/>
              <a:t>▶  Real examples: GitHub API v4, Shopify, Facebook Graph API</a:t>
            </a:r>
          </a:p>
        </p:txBody>
      </p:sp>
      <p:sp>
        <p:nvSpPr>
          <p:cNvPr id="32" name="Shape 30"/>
          <p:cNvSpPr/>
          <p:nvPr/>
        </p:nvSpPr>
        <p:spPr>
          <a:xfrm>
            <a:off x="4572000" y="3035808"/>
            <a:ext cx="4297680" cy="1883664"/>
          </a:xfrm>
          <a:prstGeom prst="rect">
            <a:avLst/>
          </a:prstGeom>
          <a:solidFill>
            <a:srgbClr val="F4F6FB"/>
          </a:solidFill>
          <a:ln w="12700">
            <a:solidFill>
              <a:srgbClr val="059669"/>
            </a:solidFill>
            <a:prstDash val="solid"/>
          </a:ln>
          <a:effectLst>
            <a:outerShdw blurRad="101600" dist="38100" dir="8100000" algn="bl" rotWithShape="0">
              <a:srgbClr val="94A3B8">
                <a:alpha val="2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572000" y="3035808"/>
            <a:ext cx="4297680" cy="475488"/>
          </a:xfrm>
          <a:prstGeom prst="rect">
            <a:avLst/>
          </a:prstGeom>
          <a:solidFill>
            <a:schemeClr val="bg1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626864" y="3044952"/>
            <a:ext cx="4187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/>
              <a:t>WebSockets &amp; Real-Time Communication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4663440" y="3621024"/>
            <a:ext cx="41148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/>
              <a:t>▶  Persistent 2-way connection — not request/response cycle</a:t>
            </a:r>
          </a:p>
        </p:txBody>
      </p:sp>
      <p:sp>
        <p:nvSpPr>
          <p:cNvPr id="36" name="Text 34"/>
          <p:cNvSpPr/>
          <p:nvPr/>
        </p:nvSpPr>
        <p:spPr>
          <a:xfrm>
            <a:off x="4663440" y="3941064"/>
            <a:ext cx="41148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/>
              <a:t>▶  Enables: live chat, scores, stock prices, tracking</a:t>
            </a:r>
          </a:p>
        </p:txBody>
      </p:sp>
      <p:sp>
        <p:nvSpPr>
          <p:cNvPr id="37" name="Text 35"/>
          <p:cNvSpPr/>
          <p:nvPr/>
        </p:nvSpPr>
        <p:spPr>
          <a:xfrm>
            <a:off x="4663440" y="4261104"/>
            <a:ext cx="41148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/>
              <a:t>▶  Example: WhatsApp — WebSocket via XMPP protocol</a:t>
            </a:r>
          </a:p>
        </p:txBody>
      </p:sp>
      <p:sp>
        <p:nvSpPr>
          <p:cNvPr id="38" name="Text 36"/>
          <p:cNvSpPr/>
          <p:nvPr/>
        </p:nvSpPr>
        <p:spPr>
          <a:xfrm>
            <a:off x="4663440" y="4581144"/>
            <a:ext cx="41148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/>
              <a:t>▶  Example: Uber — live driver location via WebSocket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70670" y="45720"/>
            <a:ext cx="6196819" cy="107899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12700">
            <a:solidFill>
              <a:srgbClr val="9333EA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3" name="Shape 1"/>
          <p:cNvSpPr/>
          <p:nvPr/>
        </p:nvSpPr>
        <p:spPr>
          <a:xfrm>
            <a:off x="0" y="1078992"/>
            <a:ext cx="9144000" cy="54864"/>
          </a:xfrm>
          <a:prstGeom prst="rect">
            <a:avLst/>
          </a:prstGeom>
          <a:solidFill>
            <a:srgbClr val="E2E8F4"/>
          </a:solidFill>
          <a:ln w="12700">
            <a:solidFill>
              <a:srgbClr val="E2E8F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103120" y="160020"/>
            <a:ext cx="41288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&amp; ML in Mobile Apps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1568548" y="713232"/>
            <a:ext cx="388268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/>
              <a:t>On-device intelligence — smart features without the cloud roundtrip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274320" y="1188720"/>
            <a:ext cx="3657600" cy="3749040"/>
          </a:xfrm>
          <a:prstGeom prst="rect">
            <a:avLst/>
          </a:prstGeom>
          <a:solidFill>
            <a:srgbClr val="F4F6FB"/>
          </a:solidFill>
          <a:ln w="12700">
            <a:solidFill>
              <a:srgbClr val="9333EA"/>
            </a:solidFill>
            <a:prstDash val="solid"/>
          </a:ln>
          <a:effectLst>
            <a:outerShdw blurRad="101600" dist="38100" dir="8100000" algn="bl" rotWithShape="0">
              <a:srgbClr val="94A3B8">
                <a:alpha val="2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188720"/>
            <a:ext cx="3657600" cy="475488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rgbClr val="9333E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197864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/>
              <a:t>On-Device ML Frameworks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65760" y="1773936"/>
            <a:ext cx="3474720" cy="548640"/>
          </a:xfrm>
          <a:prstGeom prst="rect">
            <a:avLst/>
          </a:prstGeom>
          <a:solidFill>
            <a:srgbClr val="F5F3FF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792224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/>
              <a:t>Core ML  (Apple)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1993392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/>
              <a:t>Run ML models locally on iOS. Powers Face ID, Siri, photo scene detection.</a:t>
            </a:r>
          </a:p>
        </p:txBody>
      </p:sp>
      <p:sp>
        <p:nvSpPr>
          <p:cNvPr id="12" name="Shape 10"/>
          <p:cNvSpPr/>
          <p:nvPr/>
        </p:nvSpPr>
        <p:spPr>
          <a:xfrm>
            <a:off x="365760" y="2395728"/>
            <a:ext cx="3474720" cy="548640"/>
          </a:xfrm>
          <a:prstGeom prst="rect">
            <a:avLst/>
          </a:prstGeom>
          <a:solidFill>
            <a:srgbClr val="F5F3FF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2414016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/>
              <a:t>ML Kit  (Google)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2615184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/>
              <a:t>Vision, NLP, face detection SDK. Works offline on Android &amp; iOS.</a:t>
            </a:r>
          </a:p>
        </p:txBody>
      </p:sp>
      <p:sp>
        <p:nvSpPr>
          <p:cNvPr id="15" name="Shape 13"/>
          <p:cNvSpPr/>
          <p:nvPr/>
        </p:nvSpPr>
        <p:spPr>
          <a:xfrm>
            <a:off x="365760" y="3017520"/>
            <a:ext cx="3474720" cy="548640"/>
          </a:xfrm>
          <a:prstGeom prst="rect">
            <a:avLst/>
          </a:prstGeom>
          <a:solidFill>
            <a:srgbClr val="F5F3FF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3035808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/>
              <a:t>TensorFlow Lite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7200" y="3236976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/>
              <a:t>Compressed TF models for mobile. Used in Google Translate, Lens.</a:t>
            </a:r>
          </a:p>
        </p:txBody>
      </p:sp>
      <p:sp>
        <p:nvSpPr>
          <p:cNvPr id="18" name="Shape 16"/>
          <p:cNvSpPr/>
          <p:nvPr/>
        </p:nvSpPr>
        <p:spPr>
          <a:xfrm>
            <a:off x="365760" y="3639312"/>
            <a:ext cx="3474720" cy="548640"/>
          </a:xfrm>
          <a:prstGeom prst="rect">
            <a:avLst/>
          </a:prstGeom>
          <a:solidFill>
            <a:srgbClr val="F5F3FF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3657600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/>
              <a:t>PyTorch Mobile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7200" y="3858768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/>
              <a:t>Deploy research-grade PyTorch models on Android and iOS devices.</a:t>
            </a:r>
          </a:p>
        </p:txBody>
      </p:sp>
      <p:sp>
        <p:nvSpPr>
          <p:cNvPr id="21" name="Shape 19"/>
          <p:cNvSpPr/>
          <p:nvPr/>
        </p:nvSpPr>
        <p:spPr>
          <a:xfrm>
            <a:off x="365760" y="4261104"/>
            <a:ext cx="3474720" cy="548640"/>
          </a:xfrm>
          <a:prstGeom prst="rect">
            <a:avLst/>
          </a:prstGeom>
          <a:solidFill>
            <a:srgbClr val="F5F3FF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4279392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/>
              <a:t>ONNX Runtime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57200" y="448056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/>
              <a:t>Cross-platform inference. Run models trained in any framework on mobile.</a:t>
            </a:r>
          </a:p>
        </p:txBody>
      </p:sp>
      <p:sp>
        <p:nvSpPr>
          <p:cNvPr id="24" name="Shape 22"/>
          <p:cNvSpPr/>
          <p:nvPr/>
        </p:nvSpPr>
        <p:spPr>
          <a:xfrm>
            <a:off x="4160520" y="1188720"/>
            <a:ext cx="2377440" cy="1152144"/>
          </a:xfrm>
          <a:prstGeom prst="rect">
            <a:avLst/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  <a:effectLst>
            <a:outerShdw blurRad="101600" dist="38100" dir="8100000" algn="bl" rotWithShape="0">
              <a:srgbClr val="94A3B8">
                <a:alpha val="2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160520" y="1188720"/>
            <a:ext cx="2377440" cy="329184"/>
          </a:xfrm>
          <a:prstGeom prst="rect">
            <a:avLst/>
          </a:prstGeom>
          <a:solidFill>
            <a:schemeClr val="bg2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224528" y="1225296"/>
            <a:ext cx="22494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/>
              <a:t>Face Unlock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251960" y="1572768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/>
              <a:t>iPhone Face ID — TrueDepth + Neural Engine. Works in the dark in 0.3s.</a:t>
            </a:r>
          </a:p>
        </p:txBody>
      </p:sp>
      <p:sp>
        <p:nvSpPr>
          <p:cNvPr id="28" name="Shape 26"/>
          <p:cNvSpPr/>
          <p:nvPr/>
        </p:nvSpPr>
        <p:spPr>
          <a:xfrm>
            <a:off x="6647688" y="1188720"/>
            <a:ext cx="2377440" cy="1152144"/>
          </a:xfrm>
          <a:prstGeom prst="rect">
            <a:avLst/>
          </a:prstGeom>
          <a:solidFill>
            <a:srgbClr val="F5F3FF"/>
          </a:solidFill>
          <a:ln w="12700">
            <a:solidFill>
              <a:srgbClr val="7C3AED"/>
            </a:solidFill>
            <a:prstDash val="solid"/>
          </a:ln>
          <a:effectLst>
            <a:outerShdw blurRad="101600" dist="38100" dir="8100000" algn="bl" rotWithShape="0">
              <a:srgbClr val="94A3B8">
                <a:alpha val="2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647688" y="1188720"/>
            <a:ext cx="2377440" cy="329184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711696" y="1225296"/>
            <a:ext cx="22494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/>
              <a:t>Voice Assistants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739128" y="1572768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/>
              <a:t>Siri / Google Assistant — on-device NLP for low-latency responses.</a:t>
            </a:r>
          </a:p>
        </p:txBody>
      </p:sp>
      <p:sp>
        <p:nvSpPr>
          <p:cNvPr id="32" name="Shape 30"/>
          <p:cNvSpPr/>
          <p:nvPr/>
        </p:nvSpPr>
        <p:spPr>
          <a:xfrm>
            <a:off x="4160520" y="2450592"/>
            <a:ext cx="2377440" cy="1152144"/>
          </a:xfrm>
          <a:prstGeom prst="rect">
            <a:avLst/>
          </a:prstGeom>
          <a:solidFill>
            <a:srgbClr val="FFFBEB"/>
          </a:solidFill>
          <a:ln w="12700">
            <a:solidFill>
              <a:srgbClr val="D97706"/>
            </a:solidFill>
            <a:prstDash val="solid"/>
          </a:ln>
          <a:effectLst>
            <a:outerShdw blurRad="101600" dist="38100" dir="8100000" algn="bl" rotWithShape="0">
              <a:srgbClr val="94A3B8">
                <a:alpha val="22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4224528" y="2487168"/>
            <a:ext cx="2249424" cy="256032"/>
          </a:xfrm>
          <a:prstGeom prst="rect">
            <a:avLst/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/>
              <a:t>Smart Camera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251960" y="283464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/>
              <a:t>Google Lens &amp; iPhone ProRAW — real-time scene recognition on-device.</a:t>
            </a:r>
          </a:p>
        </p:txBody>
      </p:sp>
      <p:sp>
        <p:nvSpPr>
          <p:cNvPr id="36" name="Shape 34"/>
          <p:cNvSpPr/>
          <p:nvPr/>
        </p:nvSpPr>
        <p:spPr>
          <a:xfrm>
            <a:off x="6647688" y="2450592"/>
            <a:ext cx="2377440" cy="1152144"/>
          </a:xfrm>
          <a:prstGeom prst="rect">
            <a:avLst/>
          </a:prstGeom>
          <a:solidFill>
            <a:srgbClr val="ECFDF5"/>
          </a:solidFill>
          <a:ln w="12700">
            <a:solidFill>
              <a:srgbClr val="059669"/>
            </a:solidFill>
            <a:prstDash val="solid"/>
          </a:ln>
          <a:effectLst>
            <a:outerShdw blurRad="101600" dist="38100" dir="8100000" algn="bl" rotWithShape="0">
              <a:srgbClr val="94A3B8">
                <a:alpha val="22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6647688" y="2450592"/>
            <a:ext cx="2377440" cy="329184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711696" y="2487168"/>
            <a:ext cx="22494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/>
              <a:t>Health Sensing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739128" y="283464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/>
              <a:t>Apple Watch ECG &amp; fall detection uses CoreML with custom health models.</a:t>
            </a:r>
          </a:p>
        </p:txBody>
      </p:sp>
      <p:sp>
        <p:nvSpPr>
          <p:cNvPr id="40" name="Shape 38"/>
          <p:cNvSpPr/>
          <p:nvPr/>
        </p:nvSpPr>
        <p:spPr>
          <a:xfrm>
            <a:off x="4160520" y="3712464"/>
            <a:ext cx="2377440" cy="1152144"/>
          </a:xfrm>
          <a:prstGeom prst="rect">
            <a:avLst/>
          </a:prstGeom>
          <a:solidFill>
            <a:srgbClr val="FDF2F8"/>
          </a:solidFill>
          <a:ln w="12700">
            <a:solidFill>
              <a:srgbClr val="DB2777"/>
            </a:solidFill>
            <a:prstDash val="solid"/>
          </a:ln>
          <a:effectLst>
            <a:outerShdw blurRad="101600" dist="38100" dir="8100000" algn="bl" rotWithShape="0">
              <a:srgbClr val="94A3B8">
                <a:alpha val="22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4160520" y="3712464"/>
            <a:ext cx="2377440" cy="329184"/>
          </a:xfrm>
          <a:prstGeom prst="rect">
            <a:avLst/>
          </a:prstGeom>
          <a:solidFill>
            <a:schemeClr val="bg2">
              <a:lumMod val="90000"/>
            </a:schemeClr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224528" y="3749040"/>
            <a:ext cx="22494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/>
              <a:t>AR Features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4251960" y="4096512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/>
              <a:t>Snapchat lenses, IKEA Place — ARKit/ARCore with real-time ML pipeline.</a:t>
            </a:r>
          </a:p>
        </p:txBody>
      </p:sp>
      <p:sp>
        <p:nvSpPr>
          <p:cNvPr id="44" name="Shape 42"/>
          <p:cNvSpPr/>
          <p:nvPr/>
        </p:nvSpPr>
        <p:spPr>
          <a:xfrm>
            <a:off x="6647688" y="3712464"/>
            <a:ext cx="2377440" cy="1152144"/>
          </a:xfrm>
          <a:prstGeom prst="rect">
            <a:avLst/>
          </a:prstGeom>
          <a:solidFill>
            <a:srgbClr val="FEF2F2"/>
          </a:solidFill>
          <a:ln w="12700">
            <a:solidFill>
              <a:srgbClr val="DC2626"/>
            </a:solidFill>
            <a:prstDash val="solid"/>
          </a:ln>
          <a:effectLst>
            <a:outerShdw blurRad="101600" dist="38100" dir="8100000" algn="bl" rotWithShape="0">
              <a:srgbClr val="94A3B8">
                <a:alpha val="22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6647688" y="3712464"/>
            <a:ext cx="2377440" cy="329184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711696" y="3749040"/>
            <a:ext cx="22494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/>
              <a:t>Smart Keyboard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6739128" y="4096512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/>
              <a:t>Gboard suggests next word using on-device NLP without sending text.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7899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78992"/>
            <a:ext cx="9144000" cy="54864"/>
          </a:xfrm>
          <a:prstGeom prst="rect">
            <a:avLst/>
          </a:prstGeom>
          <a:solidFill>
            <a:srgbClr val="E2E8F4"/>
          </a:solidFill>
          <a:ln w="12700">
            <a:solidFill>
              <a:srgbClr val="E2E8F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350498" y="91440"/>
            <a:ext cx="5268351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Real-World App Case Studies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274320" y="713232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/>
              <a:t>How industry apps apply every concept from this presentation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256032" y="1188720"/>
            <a:ext cx="2761488" cy="1755648"/>
          </a:xfrm>
          <a:prstGeom prst="rect">
            <a:avLst/>
          </a:prstGeom>
          <a:solidFill>
            <a:srgbClr val="F8F8F8"/>
          </a:solidFill>
          <a:ln w="12700">
            <a:solidFill>
              <a:srgbClr val="1C1C1C"/>
            </a:solidFill>
            <a:prstDash val="solid"/>
          </a:ln>
          <a:effectLst>
            <a:outerShdw blurRad="101600" dist="38100" dir="8100000" algn="bl" rotWithShape="0">
              <a:srgbClr val="94A3B8">
                <a:alpha val="2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56032" y="1188720"/>
            <a:ext cx="2761488" cy="420624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12700">
            <a:solidFill>
              <a:srgbClr val="1C1C1C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8" name="Text 6"/>
          <p:cNvSpPr/>
          <p:nvPr/>
        </p:nvSpPr>
        <p:spPr>
          <a:xfrm>
            <a:off x="329184" y="1234440"/>
            <a:ext cx="2633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/>
              <a:t>Uber — Ride-sharing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47472" y="1682496"/>
            <a:ext cx="2596896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/>
              <a:t>React Native front-end · Node.js + Go backend · WebSocket for live tracking · ML for surge pricing · Maps SDK</a:t>
            </a:r>
          </a:p>
        </p:txBody>
      </p:sp>
      <p:sp>
        <p:nvSpPr>
          <p:cNvPr id="10" name="Shape 8"/>
          <p:cNvSpPr/>
          <p:nvPr/>
        </p:nvSpPr>
        <p:spPr>
          <a:xfrm>
            <a:off x="347472" y="2615184"/>
            <a:ext cx="2596896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1C1C1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2624328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i="1" dirty="0"/>
              <a:t>💡 WebSockets + ML + REST combined in one production app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163824" y="1188720"/>
            <a:ext cx="2761488" cy="1755648"/>
          </a:xfrm>
          <a:prstGeom prst="rect">
            <a:avLst/>
          </a:prstGeom>
          <a:solidFill>
            <a:srgbClr val="FDF2F8"/>
          </a:solidFill>
          <a:ln w="12700">
            <a:solidFill>
              <a:srgbClr val="DB2777"/>
            </a:solidFill>
            <a:prstDash val="solid"/>
          </a:ln>
          <a:effectLst>
            <a:outerShdw blurRad="101600" dist="38100" dir="8100000" algn="bl" rotWithShape="0">
              <a:srgbClr val="94A3B8">
                <a:alpha val="2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163824" y="1188720"/>
            <a:ext cx="2761488" cy="420624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36976" y="1234440"/>
            <a:ext cx="2633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/>
              <a:t>Instagram — Social Media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255264" y="1682496"/>
            <a:ext cx="2596896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/>
              <a:t>React Native (mobile) · Django backend · GraphQL API · CoreML / ML Kit for AR filters &amp; content moderation</a:t>
            </a:r>
          </a:p>
        </p:txBody>
      </p:sp>
      <p:sp>
        <p:nvSpPr>
          <p:cNvPr id="16" name="Shape 14"/>
          <p:cNvSpPr/>
          <p:nvPr/>
        </p:nvSpPr>
        <p:spPr>
          <a:xfrm>
            <a:off x="3255264" y="2615184"/>
            <a:ext cx="2596896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73552" y="2624328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i="1" dirty="0"/>
              <a:t>💡 Cross-platform + GraphQL + on-device ML at 2B users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6071616" y="1188720"/>
            <a:ext cx="2761488" cy="1755648"/>
          </a:xfrm>
          <a:prstGeom prst="rect">
            <a:avLst/>
          </a:prstGeom>
          <a:solidFill>
            <a:srgbClr val="EFF6FF"/>
          </a:solidFill>
          <a:ln w="12700">
            <a:solidFill>
              <a:srgbClr val="4285F4"/>
            </a:solidFill>
            <a:prstDash val="solid"/>
          </a:ln>
          <a:effectLst>
            <a:outerShdw blurRad="101600" dist="38100" dir="8100000" algn="bl" rotWithShape="0">
              <a:srgbClr val="94A3B8">
                <a:alpha val="2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071616" y="1188720"/>
            <a:ext cx="2761488" cy="420624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12700">
            <a:solidFill>
              <a:srgbClr val="4285F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144768" y="1234440"/>
            <a:ext cx="2633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/>
              <a:t>Google Maps — Navigation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163056" y="1682496"/>
            <a:ext cx="2596896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/>
              <a:t>Native Android (Kotlin) + iOS (Swift) · REST + WebSocket for live traffic · TF Lite for offline routing</a:t>
            </a:r>
          </a:p>
        </p:txBody>
      </p:sp>
      <p:sp>
        <p:nvSpPr>
          <p:cNvPr id="22" name="Shape 20"/>
          <p:cNvSpPr/>
          <p:nvPr/>
        </p:nvSpPr>
        <p:spPr>
          <a:xfrm>
            <a:off x="6163056" y="2615184"/>
            <a:ext cx="2596896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4285F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181344" y="2624328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i="1" dirty="0"/>
              <a:t>💡 Native apps + IoT data + edge inference for offline use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256032" y="3090672"/>
            <a:ext cx="2761488" cy="1755648"/>
          </a:xfrm>
          <a:prstGeom prst="rect">
            <a:avLst/>
          </a:prstGeom>
          <a:solidFill>
            <a:srgbClr val="ECFDF5"/>
          </a:solidFill>
          <a:ln w="12700">
            <a:solidFill>
              <a:srgbClr val="059669"/>
            </a:solidFill>
            <a:prstDash val="solid"/>
          </a:ln>
          <a:effectLst>
            <a:outerShdw blurRad="101600" dist="38100" dir="8100000" algn="bl" rotWithShape="0">
              <a:srgbClr val="94A3B8">
                <a:alpha val="2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56032" y="3090672"/>
            <a:ext cx="2761488" cy="420624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9184" y="3136392"/>
            <a:ext cx="2633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/>
              <a:t>WhatsApp — Messaging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347472" y="3584448"/>
            <a:ext cx="2596896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/>
              <a:t>Erlang backend (2M concurrent connections) · WebSocket via XMPP · Signal Protocol E2E encryption · Flutter</a:t>
            </a:r>
          </a:p>
        </p:txBody>
      </p:sp>
      <p:sp>
        <p:nvSpPr>
          <p:cNvPr id="28" name="Shape 26"/>
          <p:cNvSpPr/>
          <p:nvPr/>
        </p:nvSpPr>
        <p:spPr>
          <a:xfrm>
            <a:off x="347472" y="4517136"/>
            <a:ext cx="2596896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4526280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i="1" dirty="0"/>
              <a:t>💡 Security (E2EE) + WebSockets at massive global scale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3163824" y="3090672"/>
            <a:ext cx="2761488" cy="1755648"/>
          </a:xfrm>
          <a:prstGeom prst="rect">
            <a:avLst/>
          </a:prstGeom>
          <a:solidFill>
            <a:srgbClr val="F0FDF4"/>
          </a:solidFill>
          <a:ln w="12700">
            <a:solidFill>
              <a:srgbClr val="58CC02"/>
            </a:solidFill>
            <a:prstDash val="solid"/>
          </a:ln>
          <a:effectLst>
            <a:outerShdw blurRad="101600" dist="38100" dir="8100000" algn="bl" rotWithShape="0">
              <a:srgbClr val="94A3B8">
                <a:alpha val="2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3163824" y="3090672"/>
            <a:ext cx="2761488" cy="420624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12700">
            <a:solidFill>
              <a:srgbClr val="58CC0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236976" y="3136392"/>
            <a:ext cx="2633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/>
              <a:t>Duolingo — EdTech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3255264" y="3584448"/>
            <a:ext cx="2596896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/>
              <a:t>Flutter (cross-platform) · REST API · OpenAI GPT-4 for conversation practice · ML for lesson difficulty</a:t>
            </a:r>
          </a:p>
        </p:txBody>
      </p:sp>
      <p:sp>
        <p:nvSpPr>
          <p:cNvPr id="34" name="Shape 32"/>
          <p:cNvSpPr/>
          <p:nvPr/>
        </p:nvSpPr>
        <p:spPr>
          <a:xfrm>
            <a:off x="3255264" y="4517136"/>
            <a:ext cx="2596896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58CC02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273552" y="4526280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i="1" dirty="0"/>
              <a:t>💡 Flutter + AI integration in an educational product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6071616" y="3090672"/>
            <a:ext cx="2761488" cy="1755648"/>
          </a:xfrm>
          <a:prstGeom prst="rect">
            <a:avLst/>
          </a:prstGeom>
          <a:solidFill>
            <a:srgbClr val="FFF7ED"/>
          </a:solidFill>
          <a:ln w="12700">
            <a:solidFill>
              <a:srgbClr val="EA580C"/>
            </a:solidFill>
            <a:prstDash val="solid"/>
          </a:ln>
          <a:effectLst>
            <a:outerShdw blurRad="101600" dist="38100" dir="8100000" algn="bl" rotWithShape="0">
              <a:srgbClr val="94A3B8">
                <a:alpha val="22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6071616" y="3104740"/>
            <a:ext cx="2761488" cy="420624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144768" y="3136392"/>
            <a:ext cx="2633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/>
              <a:t>Strava — Fitness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6163056" y="3584448"/>
            <a:ext cx="2596896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/>
              <a:t>iOS (Swift) + Android (Kotlin) · REST API · Wearable IoT integration · ML for activity recognition</a:t>
            </a:r>
          </a:p>
        </p:txBody>
      </p:sp>
      <p:sp>
        <p:nvSpPr>
          <p:cNvPr id="40" name="Shape 38"/>
          <p:cNvSpPr/>
          <p:nvPr/>
        </p:nvSpPr>
        <p:spPr>
          <a:xfrm>
            <a:off x="6163056" y="4517136"/>
            <a:ext cx="2596896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181344" y="4526280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i="1" dirty="0"/>
              <a:t>💡 IoT wearable integration + native apps + ML sensing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7899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78992"/>
            <a:ext cx="9144000" cy="54864"/>
          </a:xfrm>
          <a:prstGeom prst="rect">
            <a:avLst/>
          </a:prstGeom>
          <a:solidFill>
            <a:srgbClr val="E2E8F4"/>
          </a:solidFill>
          <a:ln w="12700">
            <a:solidFill>
              <a:srgbClr val="E2E8F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322363" y="91440"/>
            <a:ext cx="51909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Future Trends &amp; Career Paths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900332" y="713232"/>
            <a:ext cx="78779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/>
              <a:t>What's next in mobile computing — and where to take your career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256032" y="1207008"/>
            <a:ext cx="2075688" cy="1389888"/>
          </a:xfrm>
          <a:prstGeom prst="rect">
            <a:avLst/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  <a:effectLst>
            <a:outerShdw blurRad="101600" dist="38100" dir="8100000" algn="bl" rotWithShape="0">
              <a:srgbClr val="94A3B8">
                <a:alpha val="2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56032" y="1207008"/>
            <a:ext cx="2075688" cy="36576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10896" y="1216152"/>
            <a:ext cx="19659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/>
              <a:t>5G &amp; Beyond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329184" y="1627632"/>
            <a:ext cx="1929384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/>
              <a:t>Ultra-low latency enables cloud gaming, AR navigation &amp; remote surgery via mobile</a:t>
            </a:r>
          </a:p>
        </p:txBody>
      </p:sp>
      <p:sp>
        <p:nvSpPr>
          <p:cNvPr id="10" name="Shape 8"/>
          <p:cNvSpPr/>
          <p:nvPr/>
        </p:nvSpPr>
        <p:spPr>
          <a:xfrm>
            <a:off x="2432304" y="1207008"/>
            <a:ext cx="2075688" cy="1389888"/>
          </a:xfrm>
          <a:prstGeom prst="rect">
            <a:avLst/>
          </a:prstGeom>
          <a:solidFill>
            <a:srgbClr val="F5F3FF"/>
          </a:solidFill>
          <a:ln w="12700">
            <a:solidFill>
              <a:srgbClr val="7C3AED"/>
            </a:solidFill>
            <a:prstDash val="solid"/>
          </a:ln>
          <a:effectLst>
            <a:outerShdw blurRad="101600" dist="38100" dir="8100000" algn="bl" rotWithShape="0">
              <a:srgbClr val="94A3B8">
                <a:alpha val="2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432304" y="1207008"/>
            <a:ext cx="2075688" cy="36576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487168" y="1216152"/>
            <a:ext cx="19659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/>
              <a:t>Foldable Apps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2505456" y="1627632"/>
            <a:ext cx="1929384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/>
              <a:t>Samsung Galaxy Fold &amp; Pixel Fold require adaptive layouts &amp; multi-window UX design</a:t>
            </a:r>
          </a:p>
        </p:txBody>
      </p:sp>
      <p:sp>
        <p:nvSpPr>
          <p:cNvPr id="14" name="Shape 12"/>
          <p:cNvSpPr/>
          <p:nvPr/>
        </p:nvSpPr>
        <p:spPr>
          <a:xfrm>
            <a:off x="4608576" y="1207008"/>
            <a:ext cx="2075688" cy="1389888"/>
          </a:xfrm>
          <a:prstGeom prst="rect">
            <a:avLst/>
          </a:prstGeom>
          <a:solidFill>
            <a:srgbClr val="FFFBEB"/>
          </a:solidFill>
          <a:ln w="12700">
            <a:solidFill>
              <a:srgbClr val="D97706"/>
            </a:solidFill>
            <a:prstDash val="solid"/>
          </a:ln>
          <a:effectLst>
            <a:outerShdw blurRad="101600" dist="38100" dir="8100000" algn="bl" rotWithShape="0">
              <a:srgbClr val="94A3B8">
                <a:alpha val="2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608576" y="1207008"/>
            <a:ext cx="2075688" cy="36576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63440" y="1216152"/>
            <a:ext cx="19659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/>
              <a:t>Spatial Computing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681728" y="1627632"/>
            <a:ext cx="1929384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/>
              <a:t>Apple Vision Pro &amp; AR glasses — the next UI paradigm beyond touchscreens</a:t>
            </a:r>
          </a:p>
        </p:txBody>
      </p:sp>
      <p:sp>
        <p:nvSpPr>
          <p:cNvPr id="18" name="Shape 16"/>
          <p:cNvSpPr/>
          <p:nvPr/>
        </p:nvSpPr>
        <p:spPr>
          <a:xfrm>
            <a:off x="6784848" y="1207008"/>
            <a:ext cx="2075688" cy="1389888"/>
          </a:xfrm>
          <a:prstGeom prst="rect">
            <a:avLst/>
          </a:prstGeom>
          <a:solidFill>
            <a:srgbClr val="FAF5FF"/>
          </a:solidFill>
          <a:ln w="12700">
            <a:solidFill>
              <a:srgbClr val="9333EA"/>
            </a:solidFill>
            <a:prstDash val="solid"/>
          </a:ln>
          <a:effectLst>
            <a:outerShdw blurRad="101600" dist="38100" dir="8100000" algn="bl" rotWithShape="0">
              <a:srgbClr val="94A3B8">
                <a:alpha val="2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784848" y="1207008"/>
            <a:ext cx="2075688" cy="36576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12700">
            <a:solidFill>
              <a:srgbClr val="9333E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39712" y="1216152"/>
            <a:ext cx="19659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/>
              <a:t>Generative AI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6858000" y="1627632"/>
            <a:ext cx="1929384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/>
              <a:t>On-device LLMs (Gemini Nano, Phi-3) powering real-time smart features</a:t>
            </a:r>
          </a:p>
        </p:txBody>
      </p:sp>
      <p:sp>
        <p:nvSpPr>
          <p:cNvPr id="22" name="Text 20"/>
          <p:cNvSpPr/>
          <p:nvPr/>
        </p:nvSpPr>
        <p:spPr>
          <a:xfrm>
            <a:off x="256032" y="2761488"/>
            <a:ext cx="8595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/>
              <a:t>Career Roles in Mobile &amp; App Development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256032" y="3163824"/>
            <a:ext cx="1664208" cy="1600200"/>
          </a:xfrm>
          <a:prstGeom prst="rect">
            <a:avLst/>
          </a:prstGeom>
          <a:solidFill>
            <a:srgbClr val="F4F6FB"/>
          </a:solidFill>
          <a:ln w="12700">
            <a:solidFill>
              <a:srgbClr val="2563EB"/>
            </a:solidFill>
            <a:prstDash val="solid"/>
          </a:ln>
          <a:effectLst>
            <a:outerShdw blurRad="101600" dist="38100" dir="8100000" algn="bl" rotWithShape="0">
              <a:srgbClr val="94A3B8">
                <a:alpha val="2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329184" y="3273552"/>
            <a:ext cx="15179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/>
              <a:t>iOS Developer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329184" y="3694176"/>
            <a:ext cx="1517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/>
              <a:t>$90K–$160K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29184" y="3968496"/>
            <a:ext cx="151790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/>
              <a:t>Swift, SwiftUI, Xcode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1993392" y="3163824"/>
            <a:ext cx="1664208" cy="1600200"/>
          </a:xfrm>
          <a:prstGeom prst="rect">
            <a:avLst/>
          </a:prstGeom>
          <a:solidFill>
            <a:srgbClr val="F4F6FB"/>
          </a:solidFill>
          <a:ln w="12700">
            <a:solidFill>
              <a:srgbClr val="059669"/>
            </a:solidFill>
            <a:prstDash val="solid"/>
          </a:ln>
          <a:effectLst>
            <a:outerShdw blurRad="101600" dist="38100" dir="8100000" algn="bl" rotWithShape="0">
              <a:srgbClr val="94A3B8">
                <a:alpha val="22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2066544" y="3273552"/>
            <a:ext cx="15179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/>
              <a:t>Android Developer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2066544" y="3694176"/>
            <a:ext cx="1517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/>
              <a:t>$85K–$155K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2066544" y="3968496"/>
            <a:ext cx="151790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/>
              <a:t>Kotlin, Jetpack, Studio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3730752" y="3163824"/>
            <a:ext cx="1664208" cy="1600200"/>
          </a:xfrm>
          <a:prstGeom prst="rect">
            <a:avLst/>
          </a:prstGeom>
          <a:solidFill>
            <a:srgbClr val="F4F6FB"/>
          </a:solidFill>
          <a:ln w="12700">
            <a:solidFill>
              <a:srgbClr val="0EA5E9"/>
            </a:solidFill>
            <a:prstDash val="solid"/>
          </a:ln>
          <a:effectLst>
            <a:outerShdw blurRad="101600" dist="38100" dir="8100000" algn="bl" rotWithShape="0">
              <a:srgbClr val="94A3B8">
                <a:alpha val="22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3803904" y="3273552"/>
            <a:ext cx="15179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/>
              <a:t>React Native Dev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3803904" y="3694176"/>
            <a:ext cx="1517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/>
              <a:t>$80K–$150K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3803904" y="3968496"/>
            <a:ext cx="151790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/>
              <a:t>JS/TS, React, Expo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5468112" y="3163824"/>
            <a:ext cx="1664208" cy="1600200"/>
          </a:xfrm>
          <a:prstGeom prst="rect">
            <a:avLst/>
          </a:prstGeom>
          <a:solidFill>
            <a:srgbClr val="F4F6FB"/>
          </a:solidFill>
          <a:ln w="12700">
            <a:solidFill>
              <a:srgbClr val="0891B2"/>
            </a:solidFill>
            <a:prstDash val="solid"/>
          </a:ln>
          <a:effectLst>
            <a:outerShdw blurRad="101600" dist="38100" dir="8100000" algn="bl" rotWithShape="0">
              <a:srgbClr val="94A3B8">
                <a:alpha val="22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5541264" y="3273552"/>
            <a:ext cx="15179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/>
              <a:t>Flutter Developer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5541264" y="3694176"/>
            <a:ext cx="1517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/>
              <a:t>$82K–$152K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5541264" y="3968496"/>
            <a:ext cx="151790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/>
              <a:t>Dart, Flutter SDK, Riverpod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7205472" y="3163824"/>
            <a:ext cx="1664208" cy="1600200"/>
          </a:xfrm>
          <a:prstGeom prst="rect">
            <a:avLst/>
          </a:prstGeom>
          <a:solidFill>
            <a:srgbClr val="F4F6FB"/>
          </a:solidFill>
          <a:ln w="12700">
            <a:solidFill>
              <a:srgbClr val="7C3AED"/>
            </a:solidFill>
            <a:prstDash val="solid"/>
          </a:ln>
          <a:effectLst>
            <a:outerShdw blurRad="101600" dist="38100" dir="8100000" algn="bl" rotWithShape="0">
              <a:srgbClr val="94A3B8">
                <a:alpha val="22000"/>
              </a:srgbClr>
            </a:outerShdw>
          </a:effectLst>
        </p:spPr>
      </p:sp>
      <p:sp>
        <p:nvSpPr>
          <p:cNvPr id="45" name="Text 43"/>
          <p:cNvSpPr/>
          <p:nvPr/>
        </p:nvSpPr>
        <p:spPr>
          <a:xfrm>
            <a:off x="7278624" y="3273552"/>
            <a:ext cx="15179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/>
              <a:t>ML/AI Mobile Engineer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7278624" y="3694176"/>
            <a:ext cx="1517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/>
              <a:t>$120K–$200K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7278624" y="3968496"/>
            <a:ext cx="151790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/>
              <a:t>CoreML, TF Lite, PyTorch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8CF20021-9F60-B37D-B786-7204E141E79B}"/>
              </a:ext>
            </a:extLst>
          </p:cNvPr>
          <p:cNvSpPr/>
          <p:nvPr/>
        </p:nvSpPr>
        <p:spPr>
          <a:xfrm>
            <a:off x="70339" y="63304"/>
            <a:ext cx="8996289" cy="77372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113B33B-2A38-7153-D67D-4775833B4D86}"/>
              </a:ext>
            </a:extLst>
          </p:cNvPr>
          <p:cNvSpPr/>
          <p:nvPr/>
        </p:nvSpPr>
        <p:spPr>
          <a:xfrm>
            <a:off x="172259" y="138145"/>
            <a:ext cx="3552092" cy="608429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>
                <a:solidFill>
                  <a:schemeClr val="tx1"/>
                </a:solidFill>
              </a:rPr>
              <a:t>Development Of Process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9391024-268D-CCA6-6D53-71A620921DEA}"/>
              </a:ext>
            </a:extLst>
          </p:cNvPr>
          <p:cNvSpPr/>
          <p:nvPr/>
        </p:nvSpPr>
        <p:spPr>
          <a:xfrm>
            <a:off x="3151162" y="945608"/>
            <a:ext cx="1561514" cy="360486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Planning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080CB2D-C6BB-F403-6700-7C8255BEC21C}"/>
              </a:ext>
            </a:extLst>
          </p:cNvPr>
          <p:cNvSpPr/>
          <p:nvPr/>
        </p:nvSpPr>
        <p:spPr>
          <a:xfrm>
            <a:off x="473750" y="2257424"/>
            <a:ext cx="1704878" cy="53896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Deployment &amp; Maintenance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C80406D-E63E-FB8D-C389-B301A6064BE0}"/>
              </a:ext>
            </a:extLst>
          </p:cNvPr>
          <p:cNvSpPr/>
          <p:nvPr/>
        </p:nvSpPr>
        <p:spPr>
          <a:xfrm>
            <a:off x="4473527" y="3483078"/>
            <a:ext cx="1470073" cy="36576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Coding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C235494-D305-894B-1037-9B5FD92B4AB6}"/>
              </a:ext>
            </a:extLst>
          </p:cNvPr>
          <p:cNvSpPr/>
          <p:nvPr/>
        </p:nvSpPr>
        <p:spPr>
          <a:xfrm>
            <a:off x="1768188" y="3405316"/>
            <a:ext cx="1470073" cy="36576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Testing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A134512E-5C60-5F9D-17F7-A13A2AAD331F}"/>
              </a:ext>
            </a:extLst>
          </p:cNvPr>
          <p:cNvSpPr/>
          <p:nvPr/>
        </p:nvSpPr>
        <p:spPr>
          <a:xfrm>
            <a:off x="2943594" y="1977391"/>
            <a:ext cx="1561514" cy="1063429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Process of </a:t>
            </a:r>
          </a:p>
          <a:p>
            <a:pPr algn="ctr"/>
            <a:r>
              <a:rPr lang="en-IN" dirty="0">
                <a:solidFill>
                  <a:schemeClr val="tx1"/>
                </a:solidFill>
              </a:rPr>
              <a:t>Structure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CDA7C710-C2EC-974E-6F0F-CAB85DA1E43B}"/>
              </a:ext>
            </a:extLst>
          </p:cNvPr>
          <p:cNvCxnSpPr>
            <a:cxnSpLocks/>
          </p:cNvCxnSpPr>
          <p:nvPr/>
        </p:nvCxnSpPr>
        <p:spPr>
          <a:xfrm flipV="1">
            <a:off x="3805313" y="1306094"/>
            <a:ext cx="0" cy="63480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E84CCAE6-662F-72C0-B424-C250455D28CF}"/>
              </a:ext>
            </a:extLst>
          </p:cNvPr>
          <p:cNvCxnSpPr>
            <a:cxnSpLocks/>
          </p:cNvCxnSpPr>
          <p:nvPr/>
        </p:nvCxnSpPr>
        <p:spPr>
          <a:xfrm flipV="1">
            <a:off x="4473527" y="2465583"/>
            <a:ext cx="787793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FBCB73C5-85EE-3164-31E4-7CFA0ED67BD0}"/>
              </a:ext>
            </a:extLst>
          </p:cNvPr>
          <p:cNvCxnSpPr>
            <a:stCxn id="11" idx="2"/>
          </p:cNvCxnSpPr>
          <p:nvPr/>
        </p:nvCxnSpPr>
        <p:spPr>
          <a:xfrm flipH="1" flipV="1">
            <a:off x="2155801" y="2509105"/>
            <a:ext cx="787793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68B0A802-A343-5870-1844-D9B3D791C2BA}"/>
              </a:ext>
            </a:extLst>
          </p:cNvPr>
          <p:cNvCxnSpPr>
            <a:cxnSpLocks/>
          </p:cNvCxnSpPr>
          <p:nvPr/>
        </p:nvCxnSpPr>
        <p:spPr>
          <a:xfrm flipH="1">
            <a:off x="2980556" y="2948115"/>
            <a:ext cx="341211" cy="45720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4FA9A692-1292-B6F0-61C1-210C6746F738}"/>
              </a:ext>
            </a:extLst>
          </p:cNvPr>
          <p:cNvCxnSpPr>
            <a:cxnSpLocks/>
          </p:cNvCxnSpPr>
          <p:nvPr/>
        </p:nvCxnSpPr>
        <p:spPr>
          <a:xfrm>
            <a:off x="4227192" y="2885084"/>
            <a:ext cx="284945" cy="5832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Rectangle 24">
            <a:extLst>
              <a:ext uri="{FF2B5EF4-FFF2-40B4-BE49-F238E27FC236}">
                <a16:creationId xmlns:a16="http://schemas.microsoft.com/office/drawing/2014/main" id="{50FAB7F3-0916-F3C7-9B07-EA1F7E75C6EB}"/>
              </a:ext>
            </a:extLst>
          </p:cNvPr>
          <p:cNvSpPr/>
          <p:nvPr/>
        </p:nvSpPr>
        <p:spPr>
          <a:xfrm>
            <a:off x="5271867" y="2201815"/>
            <a:ext cx="1343465" cy="527538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Designing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309DCE71-6CB9-4F6F-5041-5F1D062425CD}"/>
              </a:ext>
            </a:extLst>
          </p:cNvPr>
          <p:cNvSpPr/>
          <p:nvPr/>
        </p:nvSpPr>
        <p:spPr>
          <a:xfrm>
            <a:off x="112472" y="4586952"/>
            <a:ext cx="8785272" cy="484897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solidFill>
                  <a:schemeClr val="tx1"/>
                </a:solidFill>
              </a:rPr>
              <a:t>Web site: https://candid-cassata-8a3ad8.netlify.app/</a:t>
            </a:r>
          </a:p>
        </p:txBody>
      </p:sp>
    </p:spTree>
    <p:extLst>
      <p:ext uri="{BB962C8B-B14F-4D97-AF65-F5344CB8AC3E}">
        <p14:creationId xmlns:p14="http://schemas.microsoft.com/office/powerpoint/2010/main" val="14723134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-441309"/>
            <a:ext cx="9079200" cy="5241909"/>
          </a:xfrm>
          <a:prstGeom prst="ellipse">
            <a:avLst/>
          </a:prstGeom>
          <a:solidFill>
            <a:schemeClr val="accent1">
              <a:lumMod val="50000"/>
              <a:alpha val="70000"/>
            </a:schemeClr>
          </a:solidFill>
          <a:ln w="12700">
            <a:solidFill>
              <a:srgbClr val="1E3A5F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IN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3" name="Shape 1"/>
          <p:cNvSpPr/>
          <p:nvPr/>
        </p:nvSpPr>
        <p:spPr>
          <a:xfrm>
            <a:off x="3052800" y="1329398"/>
            <a:ext cx="7005600" cy="6443002"/>
          </a:xfrm>
          <a:prstGeom prst="ellipse">
            <a:avLst/>
          </a:prstGeom>
          <a:solidFill>
            <a:srgbClr val="00D4FF">
              <a:alpha val="10000"/>
            </a:srgbClr>
          </a:solidFill>
          <a:ln w="12700">
            <a:solidFill>
              <a:schemeClr val="accent1">
                <a:alpha val="10000"/>
              </a:scheme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432818"/>
            <a:ext cx="9144000" cy="75438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4353951"/>
            <a:ext cx="9144000" cy="54864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73152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lgerian" panose="04020705040A02060702" pitchFamily="82" charset="0"/>
                <a:ea typeface="Calibri" pitchFamily="34" charset="-122"/>
                <a:cs typeface="Calibri" pitchFamily="34" charset="-120"/>
              </a:rPr>
              <a:t>Thank You!</a:t>
            </a:r>
            <a:endParaRPr lang="en-US" sz="6400" dirty="0">
              <a:solidFill>
                <a:schemeClr val="tx1">
                  <a:lumMod val="95000"/>
                  <a:lumOff val="5000"/>
                </a:schemeClr>
              </a:solidFill>
              <a:latin typeface="Algerian" panose="04020705040A02060702" pitchFamily="82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273171" y="1977486"/>
            <a:ext cx="7315200" cy="6675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Book Antiqua" panose="02040602050305030304" pitchFamily="18" charset="0"/>
                <a:ea typeface="Calibri" pitchFamily="34" charset="-122"/>
                <a:cs typeface="Calibri" pitchFamily="34" charset="-120"/>
              </a:rPr>
              <a:t>Mobile Computing &amp; Advanced Application Development </a:t>
            </a:r>
            <a:endParaRPr lang="en-US" sz="2800" b="1" dirty="0">
              <a:solidFill>
                <a:schemeClr val="tx1">
                  <a:lumMod val="95000"/>
                  <a:lumOff val="5000"/>
                </a:schemeClr>
              </a:solidFill>
              <a:latin typeface="Book Antiqua" panose="02040602050305030304" pitchFamily="18" charset="0"/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DFDCD5FF-EA9C-BAC9-85F7-19DF7B473CBD}"/>
              </a:ext>
            </a:extLst>
          </p:cNvPr>
          <p:cNvSpPr/>
          <p:nvPr/>
        </p:nvSpPr>
        <p:spPr>
          <a:xfrm>
            <a:off x="5029200" y="2966876"/>
            <a:ext cx="2917897" cy="1000477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tx1">
                    <a:lumMod val="95000"/>
                    <a:lumOff val="5000"/>
                  </a:schemeClr>
                </a:solidFill>
                <a:latin typeface="Bahnschrift Light" panose="020B0502040204020203" pitchFamily="34" charset="0"/>
              </a:rPr>
              <a:t>Team Name :Web Eclipse</a:t>
            </a:r>
          </a:p>
          <a:p>
            <a:pPr marL="342900" indent="-342900" algn="ctr">
              <a:buAutoNum type="arabicPeriod"/>
            </a:pPr>
            <a:r>
              <a:rPr lang="en-IN" b="1" dirty="0">
                <a:solidFill>
                  <a:schemeClr val="tx1">
                    <a:lumMod val="95000"/>
                    <a:lumOff val="5000"/>
                  </a:schemeClr>
                </a:solidFill>
                <a:latin typeface="Bahnschrift Light" panose="020B0502040204020203" pitchFamily="34" charset="0"/>
              </a:rPr>
              <a:t>S. Victoriya</a:t>
            </a:r>
          </a:p>
          <a:p>
            <a:pPr marL="342900" indent="-342900" algn="ctr">
              <a:buAutoNum type="arabicPeriod"/>
            </a:pPr>
            <a:r>
              <a:rPr lang="en-IN" b="1" dirty="0">
                <a:solidFill>
                  <a:schemeClr val="tx1">
                    <a:lumMod val="95000"/>
                    <a:lumOff val="5000"/>
                  </a:schemeClr>
                </a:solidFill>
                <a:latin typeface="Bahnschrift Light" panose="020B0502040204020203" pitchFamily="34" charset="0"/>
              </a:rPr>
              <a:t>C. Mounika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281</TotalTime>
  <Words>1310</Words>
  <Application>Microsoft Office PowerPoint</Application>
  <PresentationFormat>On-screen Show (16:9)</PresentationFormat>
  <Paragraphs>256</Paragraphs>
  <Slides>12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0" baseType="lpstr">
      <vt:lpstr>Algerian</vt:lpstr>
      <vt:lpstr>Arial</vt:lpstr>
      <vt:lpstr>Bahnschrift Light</vt:lpstr>
      <vt:lpstr>Book Antiqua</vt:lpstr>
      <vt:lpstr>Courier New</vt:lpstr>
      <vt:lpstr>Trebuchet MS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Mobile Computing &amp; Advanced App Development</dc:title>
  <dc:subject>PptxGenJS Presentation</dc:subject>
  <dc:creator>PptxGenJS</dc:creator>
  <cp:lastModifiedBy>k.Chandana sai</cp:lastModifiedBy>
  <cp:revision>9</cp:revision>
  <dcterms:created xsi:type="dcterms:W3CDTF">2026-03-07T10:24:30Z</dcterms:created>
  <dcterms:modified xsi:type="dcterms:W3CDTF">2026-03-09T06:47:17Z</dcterms:modified>
</cp:coreProperties>
</file>